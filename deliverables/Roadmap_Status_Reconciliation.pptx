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tus" id="{28a29606-bd4b-5d15-b3ba-2dc4abde0a14}">
          <p14:sldIdLst>
            <p14:sldId id="256"/>
            <p14:sldId id="257"/>
            <p14:sldId id="258"/>
            <p14:sldId id="259"/>
          </p14:sldIdLst>
        </p14:section>
        <p14:section name="Revised plan" id="{36413e2a-2946-f784-d670-b1265130b699}">
          <p14:sldIdLst>
            <p14:sldId id="260"/>
            <p14:sldId id="261"/>
            <p14:sldId id="262"/>
          </p14:sldIdLst>
        </p14:section>
        <p14:section name="Next steps" id="{89078d87-c912-98f2-c88e-21aaefb7d0a1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Wolf &amp; Co.  |  Roadmap status reconciliation  |  as of Oct 19, 2026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50" kern="0" dirty="0">
                <a:solidFill>
                  <a:srgbClr val="E8A33D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423160"/>
            <a:ext cx="8686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</a:rPr>
              <a:t>STATUS RECONCILIATION · WEEK 4 OF PHASE 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42316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really are against the Sep 28 roadmap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Build is ahead of plan. Data and production readiness are behind. Recommended: pull the pilot forward where the evidence supports it, and put the effort into the gates.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92640" y="4206240"/>
            <a:ext cx="2011680" cy="2011680"/>
          </a:xfrm>
          <a:prstGeom prst="ellipse">
            <a:avLst/>
          </a:prstGeom>
          <a:solidFill>
            <a:srgbClr val="2A3577"/>
          </a:solidFill>
          <a:ln w="12700">
            <a:solidFill>
              <a:srgbClr val="2A35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0" y="4572000"/>
            <a:ext cx="1280160" cy="12801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4846320"/>
            <a:ext cx="731520" cy="731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5943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8"/>
                </a:solidFill>
              </a:rPr>
              <a:t>Prepared by Wolf &amp; Co. for Leader  ·  Oct 19,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six weeks ahead on build, behind on the gates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6537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31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recons trained in the platform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20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Fed + 11 monthly. The plan had no template build until Nov 23.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2798064" y="155448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26664" y="178308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86537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26664" y="2331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12</a:t>
            </a:r>
            <a:endParaRPr lang="en-US" sz="3200" dirty="0"/>
          </a:p>
        </p:txBody>
      </p:sp>
      <p:sp>
        <p:nvSpPr>
          <p:cNvPr id="14" name="Text 10"/>
          <p:cNvSpPr txBox="1"/>
          <p:nvPr/>
        </p:nvSpPr>
        <p:spPr>
          <a:xfrm>
            <a:off x="3026664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tie on two months of history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026664" y="3520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The 3 breaks trace to errors in Leader's own workpapers.</a:t>
            </a:r>
            <a:endParaRPr lang="en-US" sz="1100" dirty="0"/>
          </a:p>
        </p:txBody>
      </p:sp>
      <p:sp>
        <p:nvSpPr>
          <p:cNvPr id="16" name="card"/>
          <p:cNvSpPr/>
          <p:nvPr/>
        </p:nvSpPr>
        <p:spPr>
          <a:xfrm>
            <a:off x="5047488" y="155448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276088" y="178308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865376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76088" y="2331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200" dirty="0"/>
          </a:p>
        </p:txBody>
      </p:sp>
      <p:sp>
        <p:nvSpPr>
          <p:cNvPr id="20" name="Text 15"/>
          <p:cNvSpPr txBox="1"/>
          <p:nvPr/>
        </p:nvSpPr>
        <p:spPr>
          <a:xfrm>
            <a:off x="5276088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Leader recon forms in hand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276088" y="3520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12 left to train. Matches the Jan 12 committed minimum.</a:t>
            </a:r>
            <a:endParaRPr lang="en-US" sz="1100" dirty="0"/>
          </a:p>
        </p:txBody>
      </p:sp>
      <p:sp>
        <p:nvSpPr>
          <p:cNvPr id="22" name="card"/>
          <p:cNvSpPr/>
          <p:nvPr/>
        </p:nvSpPr>
        <p:spPr>
          <a:xfrm>
            <a:off x="7296912" y="155448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525512" y="1783080"/>
            <a:ext cx="411480" cy="411480"/>
          </a:xfrm>
          <a:prstGeom prst="ellipse">
            <a:avLst/>
          </a:prstGeom>
          <a:solidFill>
            <a:srgbClr val="B3412E"/>
          </a:solidFill>
          <a:ln w="12700">
            <a:solidFill>
              <a:srgbClr val="B3412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1865376"/>
            <a:ext cx="246888" cy="24688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25512" y="2331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34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days</a:t>
            </a:r>
            <a:endParaRPr lang="en-US" sz="3200" dirty="0"/>
          </a:p>
        </p:txBody>
      </p:sp>
      <p:sp>
        <p:nvSpPr>
          <p:cNvPr id="26" name="Text 20"/>
          <p:cNvSpPr txBox="1"/>
          <p:nvPr/>
        </p:nvSpPr>
        <p:spPr>
          <a:xfrm>
            <a:off x="7525512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of Fed history received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7525512" y="3520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Both month-ends. The plan assumed 2–3 months of daily data.</a:t>
            </a:r>
            <a:endParaRPr lang="en-US" sz="1100" dirty="0"/>
          </a:p>
        </p:txBody>
      </p:sp>
      <p:sp>
        <p:nvSpPr>
          <p:cNvPr id="28" name="card"/>
          <p:cNvSpPr/>
          <p:nvPr/>
        </p:nvSpPr>
        <p:spPr>
          <a:xfrm>
            <a:off x="9546336" y="155448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774936" y="1783080"/>
            <a:ext cx="411480" cy="411480"/>
          </a:xfrm>
          <a:prstGeom prst="ellipse">
            <a:avLst/>
          </a:prstGeom>
          <a:solidFill>
            <a:srgbClr val="B3412E"/>
          </a:solidFill>
          <a:ln w="12700">
            <a:solidFill>
              <a:srgbClr val="B3412E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7232" y="1865376"/>
            <a:ext cx="246888" cy="24688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774936" y="2331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34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32" name="Text 25"/>
          <p:cNvSpPr txBox="1"/>
          <p:nvPr/>
        </p:nvSpPr>
        <p:spPr>
          <a:xfrm>
            <a:off x="9774936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production environments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774936" y="3520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The app runs on a dev workstation. Nov 9 parallel run needs one.</a:t>
            </a:r>
            <a:endParaRPr lang="en-US" sz="1100" dirty="0"/>
          </a:p>
        </p:txBody>
      </p:sp>
      <p:sp>
        <p:nvSpPr>
          <p:cNvPr id="34" name="callout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22960" y="493776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5020056"/>
            <a:ext cx="246888" cy="24688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417320" y="48920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</a:rPr>
              <a:t>What this means: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template build was supposed to be the hard part, and it isn't. The critical path has moved to what the plan treated as housekeeping: Fed daily data, a production environment, and Leader's sign-off on variances in their own figures. Keep Nov 23 and May 25. Pull the pilot forward. Spend the time we've saved on the gates.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VS ACTUAL · AS OF OCT 19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scorecard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4206240"/>
                <a:gridCol w="14630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said, by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we 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Kickoff &amp; data requests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28 – Oct 2: owners confirmed, samples requested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Leader's original file set received; Fed is the only daily recon in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Sizing 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Oct 9: sample 40–50 recons, test the type-to-instance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forms sampled. Pattern holds: one LIP form covers 6 GL accounts, FHLB covers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7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600+ inventory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5 – 23: working sessions with every recon 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evidence of the 600+ inventory in delivery records. Confirm before the Nov 6 sign-off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4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evidenced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Fed: scope &amp; samples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Oct 23: sample Fed and GL files, layout agreed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Done. Uses the trial balance as the ledger, as Leader's preparer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Fed: configure &amp; back-test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26 – Nov 6, on 2–3 months of daily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Configured; ties to zero on both days. Only 2 month-end days exist to test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7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Ahead, thin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&amp; upload intake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19 – Nov 6: minimal production environment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workstation only; the API stops when the session ends. Hosting not chosen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4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templates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23 – Dec 4: build ~5 types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monthly recons built and back-tested on Jul and Aug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 wks ahead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security review in Phase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keys still readable in Bitbucket history; rotation 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4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BUILD TAUGHT US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recons in, three lessons for the plan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51206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2560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Recon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Months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Fed (daily)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Jan, Feb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</a:rPr>
                        <a:t>Ties both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FHLB Ideal Way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Jul, Aug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</a:rPr>
                        <a:t>Ties both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FHLB Stock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Jul, Aug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</a:rPr>
                        <a:t>Ties both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Investments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Jul, Aug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</a:rPr>
                        <a:t>Ties (in rounding)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Loan Suspense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Jul, Aug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</a:rPr>
                        <a:t>Ties both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Other Serviced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Jul, Aug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</a:rPr>
                        <a:t>Ties both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SBL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Jul, Aug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</a:rPr>
                        <a:t>Ties (in rounding)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LIP 1210400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Jul, Aug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</a:rPr>
                        <a:t>Ties both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LIP 2800310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Jul, Aug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</a:rPr>
                        <a:t>Ties both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Deferred Fees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Jul, Aug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412E"/>
                          </a:solidFill>
                        </a:rPr>
                        <a:t>Jul breaks: stale GL 5,157.50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CDARS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Jul, Aug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412E"/>
                          </a:solidFill>
                        </a:rPr>
                        <a:t>Breaks: wrong sign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Loan Recon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Jul, Aug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412E"/>
                          </a:solidFill>
                        </a:rPr>
                        <a:t>Breaks: misclassified accts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5943600" y="150876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72200" y="16916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496" y="1773936"/>
            <a:ext cx="246888" cy="2468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766560" y="16733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breaks are Leader's errors, not ours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766560" y="2103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A stale GL figure, a sign typed backwards, and account misclassifications that Leader's own subledger report prints. The gate needs a defined path for customer-side variances, or sign-off stalls on figures we can't fix.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5943600" y="3081528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72200" y="3264408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3346704"/>
            <a:ext cx="246888" cy="2468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0" y="3246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installs find gaps that validation can't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6766560" y="367588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Four engine gaps only showed up on live ingests: a credit-column reader, a split item block, undated items, and module linking. All are fixed and tested. Budget 1–2 days per new type for reader work.</a:t>
            </a:r>
            <a:endParaRPr lang="en-US" sz="1100" dirty="0"/>
          </a:p>
        </p:txBody>
      </p:sp>
      <p:sp>
        <p:nvSpPr>
          <p:cNvPr id="15" name="card"/>
          <p:cNvSpPr/>
          <p:nvPr/>
        </p:nvSpPr>
        <p:spPr>
          <a:xfrm>
            <a:off x="5943600" y="4654296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172200" y="4837176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4919472"/>
            <a:ext cx="246888" cy="2468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766560" y="481888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× instances is real at Leader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6766560" y="524865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Six LIP GL accounts share one form and two FHLB recons share a pattern. That supports the ~18-type estimate, but the 600+ count itself hasn't been tested.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· MID-LEVEL AGGRESSIVE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the build lead, pull the pilot forward, keep the end date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411480" cy="41148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6537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forward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</a:rPr>
              <a:t>Train all 24 Leader forms by Nov 6, not Dec 4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</a:rPr>
              <a:t>New early release on Tue Dec 8: ~10 monthly recons live, run in parallel on the October close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</a:rPr>
              <a:t>Raise the Jan 12 committed minimum from 24 to 36 recons; the ~60 target stays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364992" y="155448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93592" y="178308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86537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42232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Hold, with conditions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93592" y="242316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</a:rPr>
              <a:t>Fed live Mon Nov 23, if ≥10 ordinary weekdays of Fed and GL files arrive by Oct 30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</a:rPr>
              <a:t>If they don't arrive by Nov 6, Fed moves to Tue Dec 1. No other date moves with it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</a:rPr>
              <a:t>Phase 0 sign-off stays Nov 6, but only with the 600+ inventory evidenced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6181344" y="155448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9944" y="1783080"/>
            <a:ext cx="411480" cy="411480"/>
          </a:xfrm>
          <a:prstGeom prst="ellipse">
            <a:avLst/>
          </a:prstGeom>
          <a:solidFill>
            <a:srgbClr val="B3412E"/>
          </a:solidFill>
          <a:ln w="12700">
            <a:solidFill>
              <a:srgbClr val="B3412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6537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58584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to the plan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409944" y="242316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</a:rPr>
              <a:t>Rotate the exposed API keys by Oct 23, ahead of any security review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</a:rPr>
              <a:t>Hosting decision Oct 30; production environment ready Nov 6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</a:rPr>
              <a:t>A customer-side variance path in the promotion gate: Leader corrects or accepts each break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8997696" y="155448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26296" y="1783080"/>
            <a:ext cx="411480" cy="411480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186537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774936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alone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226296" y="242316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</a:rPr>
              <a:t>Wave 2 on Feb 9 and the two-week cadence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</a:rPr>
              <a:t>May 25 for all ~600; re-baseline at Nov 6 as planned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</a:rPr>
              <a:t>The self-service ladder and its stability gate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DATES · CHANGES HIGHLIGHTED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Revised milestone calendar to the pilot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5486400"/>
                <a:gridCol w="1097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Original plan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Revised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</a:rPr>
                        <a:t>Fri Oct 23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Fed and GL samples; layout agreed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Done Oct 19. Rotate exposed keys; send Leader the Fed questions and the 3 breaks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</a:rPr>
                        <a:t>Done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</a:rPr>
                        <a:t>Fri Oct 30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2–3 months of Fed history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≥10 ordinary weekdays of Fed + GL; trial balance pull timing; hosting decision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472"/>
                          </a:solidFill>
                        </a:rPr>
                        <a:t>Changed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</a:rPr>
                        <a:t>Fri Nov 6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Phase 0 sign-off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Sign-off with the inventory evidenced; all 24 Leader forms trained; production environment up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</a:rPr>
                        <a:t>Earlier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</a:rPr>
                        <a:t>Mon Nov 9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Fed parallel run starts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Unchanged. Runs on the production environment, not a workstation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472"/>
                          </a:solidFill>
                        </a:rPr>
                        <a:t>Same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</a:rPr>
                        <a:t>Fri Nov 20 / Mon Nov 23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Fed gate / Fed live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Unchanged. Fallback Tue Dec 1 if daily data misses Nov 6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472"/>
                          </a:solidFill>
                        </a:rPr>
                        <a:t>Same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</a:rPr>
                        <a:t>Tue Dec 8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No milestone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Early release: ~10 monthly recons live after parallel on the October close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</a:rPr>
                        <a:t>New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</a:rPr>
                        <a:t>Fri Dec 18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Pilot UAT complete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Unchanged. Holiday freeze Dec 21–25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472"/>
                          </a:solidFill>
                        </a:rPr>
                        <a:t>Same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</a:rPr>
                        <a:t>Tue Jan 12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Pilot: 24 minimum, ~60 target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Pilot: 36 minimum, ~60 target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</a:rPr>
                        <a:t>Raised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</a:rPr>
              <a:t>Wave 2 (Feb 9) through Wave 9 (May 25) are unchanged until the Nov 6 re-baseline. Dec 8 sits after November's close window (business day 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REGISTER, UPDATED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risks have moved from build to readiness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3602736" cy="2258568"/>
          </a:xfrm>
          <a:prstGeom prst="roundRect">
            <a:avLst>
              <a:gd name="adj" fmla="val 3239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411480" cy="411480"/>
          </a:xfrm>
          <a:prstGeom prst="ellipse">
            <a:avLst/>
          </a:prstGeom>
          <a:solidFill>
            <a:srgbClr val="B3412E"/>
          </a:solidFill>
          <a:ln w="12700">
            <a:solidFill>
              <a:srgbClr val="B341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77393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production environment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947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412E"/>
                </a:solidFill>
              </a:rPr>
              <a:t>New · High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2860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472"/>
                </a:solidFill>
              </a:rPr>
              <a:t>Nov 9 parallel run and Nov 23 go-live both need it. Today the API stops when a session ends.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Action: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</a:rPr>
              <a:t>Hosting decision Oct 30; environment ready Nov 6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Owner: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</a:rPr>
              <a:t>Wolf engagement lead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279392" y="1508760"/>
            <a:ext cx="3602736" cy="2258568"/>
          </a:xfrm>
          <a:prstGeom prst="roundRect">
            <a:avLst>
              <a:gd name="adj" fmla="val 3239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62272" y="1691640"/>
            <a:ext cx="411480" cy="411480"/>
          </a:xfrm>
          <a:prstGeom prst="ellipse">
            <a:avLst/>
          </a:prstGeom>
          <a:solidFill>
            <a:srgbClr val="B3412E"/>
          </a:solidFill>
          <a:ln w="12700">
            <a:solidFill>
              <a:srgbClr val="B3412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177393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10912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 daily data is two month-end days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010912" y="1947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412E"/>
                </a:solidFill>
              </a:rPr>
              <a:t>New · High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462272" y="22860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472"/>
                </a:solidFill>
              </a:rPr>
              <a:t>Daily behaviour is untested. Trial balance timing decides whether backdated entries create false breaks.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Action: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</a:rPr>
              <a:t>≥10 weekdays by Oct 30; Dec 1 fallback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Owner: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</a:rPr>
              <a:t>Leader Fed owner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8010144" y="1508760"/>
            <a:ext cx="3602736" cy="2258568"/>
          </a:xfrm>
          <a:prstGeom prst="roundRect">
            <a:avLst>
              <a:gd name="adj" fmla="val 3239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93024" y="1691640"/>
            <a:ext cx="411480" cy="411480"/>
          </a:xfrm>
          <a:prstGeom prst="ellipse">
            <a:avLst/>
          </a:prstGeom>
          <a:solidFill>
            <a:srgbClr val="B3412E"/>
          </a:solidFill>
          <a:ln w="12700">
            <a:solidFill>
              <a:srgbClr val="B3412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773936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741664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Exposed credentials in repo history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741664" y="1947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412E"/>
                </a:solidFill>
              </a:rPr>
              <a:t>New · High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8193024" y="22860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472"/>
                </a:solidFill>
              </a:rPr>
              <a:t>Old Anthropic and AWS keys are readable in Bitbucket. This would fail any security review.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Action: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</a:rPr>
              <a:t>Rotate and revoke by Oct 23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Owner: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</a:rPr>
              <a:t>Wolf data engineer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548640" y="3904488"/>
            <a:ext cx="3602736" cy="2258568"/>
          </a:xfrm>
          <a:prstGeom prst="roundRect">
            <a:avLst>
              <a:gd name="adj" fmla="val 3239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31520" y="4087368"/>
            <a:ext cx="411480" cy="411480"/>
          </a:xfrm>
          <a:prstGeom prst="ellipse">
            <a:avLst/>
          </a:prstGeom>
          <a:solidFill>
            <a:srgbClr val="C27C12"/>
          </a:solidFill>
          <a:ln w="12700">
            <a:solidFill>
              <a:srgbClr val="C27C12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4169664"/>
            <a:ext cx="246888" cy="24688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80160" y="4041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600+ inventory not evidenced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1280160" y="4343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7C12"/>
                </a:solidFill>
              </a:rPr>
              <a:t>New · Med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731520" y="468172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472"/>
                </a:solidFill>
              </a:rPr>
              <a:t>Wave sizing from Feb onward rests on a count nobody has checked.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Action: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</a:rPr>
              <a:t>Show inventory progress at the Oct 30 steering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Owner: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</a:rPr>
              <a:t>Finance ops lead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4279392" y="3904488"/>
            <a:ext cx="3602736" cy="2258568"/>
          </a:xfrm>
          <a:prstGeom prst="roundRect">
            <a:avLst>
              <a:gd name="adj" fmla="val 3239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462272" y="4087368"/>
            <a:ext cx="411480" cy="411480"/>
          </a:xfrm>
          <a:prstGeom prst="ellipse">
            <a:avLst/>
          </a:prstGeom>
          <a:solidFill>
            <a:srgbClr val="C27C12"/>
          </a:solidFill>
          <a:ln w="12700">
            <a:solidFill>
              <a:srgbClr val="C27C12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68" y="4169664"/>
            <a:ext cx="246888" cy="24688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010912" y="4041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stalls on Leader-side breaks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5010912" y="4343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7C12"/>
                </a:solidFill>
              </a:rPr>
              <a:t>New · Med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4462272" y="468172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472"/>
                </a:solidFill>
              </a:rPr>
              <a:t>Three of twelve recons break on Leader's own figures. Sign-off waits on Leader correcting them.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Action: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</a:rPr>
              <a:t>Customer-side variance path; 5-day turnaround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Owner: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</a:rPr>
              <a:t>Leader recon owners</a:t>
            </a:r>
            <a:endParaRPr lang="en-US" sz="1200" dirty="0"/>
          </a:p>
        </p:txBody>
      </p:sp>
      <p:sp>
        <p:nvSpPr>
          <p:cNvPr id="34" name="card"/>
          <p:cNvSpPr/>
          <p:nvPr/>
        </p:nvSpPr>
        <p:spPr>
          <a:xfrm>
            <a:off x="8010144" y="3904488"/>
            <a:ext cx="3602736" cy="2258568"/>
          </a:xfrm>
          <a:prstGeom prst="roundRect">
            <a:avLst>
              <a:gd name="adj" fmla="val 3239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193024" y="4087368"/>
            <a:ext cx="411480" cy="41148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4169664"/>
            <a:ext cx="246888" cy="24688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741664" y="4041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 build effort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8741664" y="4343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</a:rPr>
              <a:t>Lowered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8193024" y="468172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472"/>
                </a:solidFill>
              </a:rPr>
              <a:t>Was the implicit main risk. 12 built and tested in weeks, with 4 engine gaps found and closed.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Action: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</a:rPr>
              <a:t>Keep 1–2 days per type for reader work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Owner: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</a:rPr>
              <a:t>Wolf recon architect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AND NEXT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Asks and owners</a:t>
            </a:r>
            <a:endParaRPr lang="en-US" sz="3000" dirty="0"/>
          </a:p>
        </p:txBody>
      </p:sp>
      <p:sp>
        <p:nvSpPr>
          <p:cNvPr id="4" name="leader"/>
          <p:cNvSpPr/>
          <p:nvPr/>
        </p:nvSpPr>
        <p:spPr>
          <a:xfrm>
            <a:off x="548640" y="150876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37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Leader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By Oct 30: ten or more ordinary weekdays of Fed statements and GL exports, not month-ends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On a normal day, is the trial balance pulled the same day or the next morning?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February's FedACH settlement summary is dated Feb 26. Is that intended?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Confirm or correct the 3 breaks: Deferred Fees July (GL 1300310 stale by 5,157.50), CDARS signs, Loan Recon misclassifications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Where the 600+ inventory stands, before the Nov 6 sign-off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6172200" y="150876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73736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81965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40880" y="1737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Wolf &amp; Co.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33172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</a:rPr>
              <a:t>Oct 23: rotate and revoke the exposed Anthropic and AWS keys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</a:rPr>
              <a:t>Oct 30: hosting decision; production environment ready by Nov 6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</a:rPr>
              <a:t>Nov 6: train the remaining 12 forms: SLIP, Ramp, Escrow, Narmi, Deposit, DDA, Deferred Tax Asset, Loan Accrued Interest, and LIP 1210150, 1609500, 2202500, 2800550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</a:rPr>
              <a:t>Before Dec 8: per-month upload checklist and the question layer, so owners can run uploads themselves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</a:rPr>
              <a:t>Write the customer-side variance path into the promotion gate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lf Roadmap">
  <a:themeElements>
    <a:clrScheme name="Wolf Roadmap">
      <a:dk1>
        <a:srgbClr val="000000"/>
      </a:dk1>
      <a:lt1>
        <a:srgbClr val="FFFFFF"/>
      </a:lt1>
      <a:dk2>
        <a:srgbClr val="1E2761"/>
      </a:dk2>
      <a:lt2>
        <a:srgbClr val="F4F7FC"/>
      </a:lt2>
      <a:accent1>
        <a:srgbClr val="1E2761"/>
      </a:accent1>
      <a:accent2>
        <a:srgbClr val="E8A33D"/>
      </a:accent2>
      <a:accent3>
        <a:srgbClr val="2E7D5B"/>
      </a:accent3>
      <a:accent4>
        <a:srgbClr val="B3412E"/>
      </a:accent4>
      <a:accent5>
        <a:srgbClr val="C27C12"/>
      </a:accent5>
      <a:accent6>
        <a:srgbClr val="5B6472"/>
      </a:accent6>
      <a:hlink>
        <a:srgbClr val="1E2761"/>
      </a:hlink>
      <a:folHlink>
        <a:srgbClr val="5B6472"/>
      </a:folHlink>
    </a:clrScheme>
    <a:fontScheme name="Wolf Roadma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Reconciliation Roadmap: Status Reconciliation</dc:title>
  <dc:subject>PptxGenJS Presentation</dc:subject>
  <dc:creator>Wolf &amp; Co.</dc:creator>
  <cp:lastModifiedBy>Wolf &amp; Co.</cp:lastModifiedBy>
  <cp:revision>1</cp:revision>
  <dcterms:created xsi:type="dcterms:W3CDTF">2026-10-19T21:23:32Z</dcterms:created>
  <dcterms:modified xsi:type="dcterms:W3CDTF">2026-10-19T21:23:32Z</dcterms:modified>
</cp:coreProperties>
</file>