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rategy" id="{4951a292-8d6d-de23-92b7-ec04c7c9c69f}">
          <p14:sldIdLst>
            <p14:sldId id="256"/>
            <p14:sldId id="257"/>
            <p14:sldId id="258"/>
            <p14:sldId id="259"/>
          </p14:sldIdLst>
        </p14:section>
        <p14:section name="Platform" id="{50fc3b3f-8e6c-ad25-b909-50a007b638f2}">
          <p14:sldIdLst>
            <p14:sldId id="260"/>
            <p14:sldId id="261"/>
            <p14:sldId id="262"/>
          </p14:sldIdLst>
        </p14:section>
        <p14:section name="Plan" id="{398a908b-39f9-4b5e-6707-160e01fbaa62}">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mn-lt"/>
              </a:defRPr>
            </a:pPr>
            <a:r>
              <a:rPr sz="1300" b="0" i="0" u="none" strike="noStrike">
                <a:solidFill>
                  <a:srgbClr val="1E2761"/>
                </a:solidFill>
                <a:latin typeface="+mn-lt"/>
              </a:rPr>
              <a:t>Weeks of owner time to set up all 600 recons</a:t>
            </a:r>
          </a:p>
        </c:rich>
      </c:tx>
      <c:layout/>
      <c:overlay val="0"/>
    </c:title>
    <c:autoTitleDeleted val="0"/>
    <c:plotArea>
      <c:layout/>
      <c:barChart>
        <c:barDir val="bar"/>
        <c:grouping val="clustered"/>
        <c:varyColors val="0"/>
        <c:ser>
          <c:idx val="0"/>
          <c:order val="0"/>
          <c:tx>
            <c:strRef>
              <c:f>Sheet1!$B$1</c:f>
              <c:strCache>
                <c:ptCount val="1"/>
                <c:pt idx="0">
                  <c:v>Weeks to set up all 600</c:v>
                </c:pt>
              </c:strCache>
            </c:strRef>
          </c:tx>
          <c:spPr>
            <a:solidFill>
              <a:srgbClr val="1E2761"/>
            </a:solidFill>
            <a:effectLst/>
          </c:spPr>
          <c:invertIfNegative val="0"/>
          <c:dLbls>
            <c:numFmt formatCode="0.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E8A33D"/>
              </a:solidFill>
              <a:effectLst/>
            </c:spPr>
          </c:dPt>
          <c:cat>
            <c:multiLvlStrRef>
              <c:f>Sheet1!$A$2:$A$4</c:f>
              <c:multiLvlStrCache>
                <c:ptCount val="3"/>
                <c:lvl>
                  <c:pt idx="0">
                    <c:v>2 hours (roadmap)</c:v>
                  </c:pt>
                  <c:pt idx="1">
                    <c:v>1 hour</c:v>
                  </c:pt>
                  <c:pt idx="2">
                    <c:v>30 minutes</c:v>
                  </c:pt>
                </c:lvl>
              </c:multiLvlStrCache>
            </c:multiLvlStrRef>
          </c:cat>
          <c:val>
            <c:numRef>
              <c:f>Sheet1!$B$2:$B$4</c:f>
              <c:numCache>
                <c:formatCode>General</c:formatCode>
                <c:ptCount val="3"/>
                <c:pt idx="0">
                  <c:v>13.3</c:v>
                </c:pt>
                <c:pt idx="1">
                  <c:v>6.7</c:v>
                </c:pt>
                <c:pt idx="2">
                  <c:v>3.3</c:v>
                </c:pt>
              </c:numCache>
            </c:numRef>
          </c:val>
        </c:ser>
        <c:dLbls>
          <c:numFmt formatCode="0.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9AA5B8"/>
                </a:solidFill>
                <a:latin typeface="Calibri" pitchFamily="34" charset="0"/>
                <a:ea typeface="Calibri" pitchFamily="34" charset="-122"/>
                <a:cs typeface="Calibri" pitchFamily="34" charset="-120"/>
              </a:rPr>
              <a:t>Wolf &amp; Co.  |  Platform-led rollout strategy  |  Oct 19, 2026</a:t>
            </a:r>
            <a:endParaRPr lang="en-US" sz="900" dirty="0"/>
          </a:p>
        </p:txBody>
      </p:sp>
      <p:sp>
        <p:nvSpPr>
          <p:cNvPr id="3" name="Text 1"/>
          <p:cNvSpPr/>
          <p:nvPr>
            <p:ph idx="101" type="body" hasCustomPrompt="1"/>
          </p:nvPr>
        </p:nvSpPr>
        <p:spPr>
          <a:xfrm>
            <a:off x="548640" y="411480"/>
            <a:ext cx="11064240" cy="320040"/>
          </a:xfrm>
          <a:prstGeom prst="rect">
            <a:avLst/>
          </a:prstGeom>
          <a:noFill/>
          <a:ln/>
        </p:spPr>
        <p:txBody>
          <a:bodyPr wrap="square" rtlCol="0"/>
          <a:lstStyle>
            <a:lvl1pPr indent="0" marL="0">
              <a:buNone/>
              <a:defRPr lang="en-US" sz="1200" b="1" spc="150" kern="0" dirty="0">
                <a:solidFill>
                  <a:srgbClr val="E8A33D"/>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4" name="Text 1"/>
          <p:cNvSpPr/>
          <p:nvPr>
            <p:ph idx="102" type="title" hasCustomPrompt="1"/>
          </p:nvPr>
        </p:nvSpPr>
        <p:spPr>
          <a:xfrm>
            <a:off x="548640" y="713232"/>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8229600" cy="365760"/>
          </a:xfrm>
          <a:prstGeom prst="rect">
            <a:avLst/>
          </a:prstGeom>
          <a:noFill/>
          <a:ln/>
        </p:spPr>
        <p:txBody>
          <a:bodyPr wrap="square" rtlCol="0"/>
          <a:lstStyle>
            <a:lvl1pPr indent="0" marL="0">
              <a:buNone/>
              <a:defRPr lang="en-US" sz="1200" b="1" spc="150" kern="0" dirty="0">
                <a:solidFill>
                  <a:srgbClr val="E8A33D"/>
                </a:solidFill>
              </a:defRPr>
            </a:lvl1pPr>
          </a:lstStyle>
          <a:p>
            <a:pPr indent="0" marL="0">
              <a:buNone/>
            </a:pPr>
            <a:endParaRPr lang="en-US" sz="1200" dirty="0"/>
          </a:p>
        </p:txBody>
      </p:sp>
      <p:sp>
        <p:nvSpPr>
          <p:cNvPr id="3" name="Text 0"/>
          <p:cNvSpPr/>
          <p:nvPr>
            <p:ph idx="101" type="title" hasCustomPrompt="1"/>
          </p:nvPr>
        </p:nvSpPr>
        <p:spPr>
          <a:xfrm>
            <a:off x="731520" y="2423160"/>
            <a:ext cx="8686800" cy="146304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731520" y="4023360"/>
            <a:ext cx="8229600" cy="822960"/>
          </a:xfrm>
          <a:prstGeom prst="rect">
            <a:avLst/>
          </a:prstGeom>
          <a:noFill/>
          <a:ln/>
        </p:spPr>
        <p:txBody>
          <a:bodyPr wrap="square" rtlCol="0"/>
          <a:lstStyle>
            <a:lvl1pPr indent="0" marL="0">
              <a:buNone/>
              <a:defRPr lang="en-US" sz="1400" dirty="0">
                <a:solidFill>
                  <a:srgbClr val="CADCFC"/>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8229600" cy="365760"/>
          </a:xfrm>
          <a:prstGeom prst="rect">
            <a:avLst/>
          </a:prstGeom>
          <a:noFill/>
          <a:ln/>
        </p:spPr>
        <p:txBody>
          <a:bodyPr wrap="square" lIns="0" tIns="0" rIns="0" bIns="0" rtlCol="0"/>
          <a:lstStyle/>
          <a:p>
            <a:pPr indent="0" marL="0">
              <a:buNone/>
            </a:pPr>
            <a:r>
              <a:rPr lang="en-US" sz="1200" b="1" spc="150" kern="0" dirty="0">
                <a:solidFill>
                  <a:srgbClr val="E8A33D"/>
                </a:solidFill>
              </a:rPr>
              <a:t>REVISED ROLLOUT STRATEGY · LEADER</a:t>
            </a:r>
            <a:endParaRPr lang="en-US" sz="1200" dirty="0"/>
          </a:p>
        </p:txBody>
      </p:sp>
      <p:sp>
        <p:nvSpPr>
          <p:cNvPr id="3" name="Text 0"/>
          <p:cNvSpPr/>
          <p:nvPr>
            <p:ph idx="101" type="title" hasCustomPrompt="1"/>
          </p:nvPr>
        </p:nvSpPr>
        <p:spPr>
          <a:xfrm>
            <a:off x="731520" y="2423160"/>
            <a:ext cx="8686800" cy="146304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Finish the types, then let the platform carry the rollout</a:t>
            </a:r>
            <a:endParaRPr lang="en-US" sz="3600" dirty="0"/>
          </a:p>
        </p:txBody>
      </p:sp>
      <p:sp>
        <p:nvSpPr>
          <p:cNvPr id="4" name="Text 0"/>
          <p:cNvSpPr/>
          <p:nvPr>
            <p:ph idx="102" type="body" hasCustomPrompt="1"/>
          </p:nvPr>
        </p:nvSpPr>
        <p:spPr>
          <a:xfrm>
            <a:off x="731520" y="4023360"/>
            <a:ext cx="8229600" cy="822960"/>
          </a:xfrm>
          <a:prstGeom prst="rect">
            <a:avLst/>
          </a:prstGeom>
          <a:noFill/>
          <a:ln/>
        </p:spPr>
        <p:txBody>
          <a:bodyPr wrap="square" lIns="0" tIns="0" rIns="0" bIns="0" rtlCol="0" anchor="t"/>
          <a:lstStyle/>
          <a:p>
            <a:pPr indent="0" marL="0">
              <a:buNone/>
            </a:pPr>
            <a:r>
              <a:rPr lang="en-US" sz="1400" dirty="0">
                <a:solidFill>
                  <a:srgbClr val="CADCFC"/>
                </a:solidFill>
              </a:rPr>
              <a:t>Twelve recons in, building types is no longer the hard part. We stop hand-configuring 600 recons, finish the type library, and build feedback, gating and fast setup into the platform so Leader can roll out at their own pace.</a:t>
            </a:r>
            <a:endParaRPr lang="en-US" sz="1400" dirty="0"/>
          </a:p>
        </p:txBody>
      </p:sp>
      <p:sp>
        <p:nvSpPr>
          <p:cNvPr id="5" name="Shape 3"/>
          <p:cNvSpPr/>
          <p:nvPr/>
        </p:nvSpPr>
        <p:spPr>
          <a:xfrm>
            <a:off x="9692640" y="4206240"/>
            <a:ext cx="2011680" cy="2011680"/>
          </a:xfrm>
          <a:prstGeom prst="ellipse">
            <a:avLst/>
          </a:prstGeom>
          <a:solidFill>
            <a:srgbClr val="2A3577"/>
          </a:solidFill>
          <a:ln w="12700">
            <a:solidFill>
              <a:srgbClr val="2A3577"/>
            </a:solidFill>
            <a:prstDash val="solid"/>
          </a:ln>
        </p:spPr>
      </p:sp>
      <p:sp>
        <p:nvSpPr>
          <p:cNvPr id="6" name="Shape 4"/>
          <p:cNvSpPr/>
          <p:nvPr/>
        </p:nvSpPr>
        <p:spPr>
          <a:xfrm>
            <a:off x="10058400" y="4572000"/>
            <a:ext cx="1280160" cy="1280160"/>
          </a:xfrm>
          <a:prstGeom prst="ellipse">
            <a:avLst/>
          </a:prstGeom>
          <a:solidFill>
            <a:srgbClr val="E8A33D"/>
          </a:solidFill>
          <a:ln w="12700">
            <a:solidFill>
              <a:srgbClr val="E8A33D"/>
            </a:solidFill>
            <a:prstDash val="solid"/>
          </a:ln>
        </p:spPr>
      </p:sp>
      <p:pic>
        <p:nvPicPr>
          <p:cNvPr id="7" name="Image 0" descr="preencoded.png">    </p:cNvPr>
          <p:cNvPicPr>
            <a:picLocks noChangeAspect="1"/>
          </p:cNvPicPr>
          <p:nvPr/>
        </p:nvPicPr>
        <p:blipFill>
          <a:blip r:embed="rId1"/>
          <a:stretch>
            <a:fillRect/>
          </a:stretch>
        </p:blipFill>
        <p:spPr>
          <a:xfrm>
            <a:off x="10332720" y="4846320"/>
            <a:ext cx="731520" cy="731520"/>
          </a:xfrm>
          <a:prstGeom prst="rect">
            <a:avLst/>
          </a:prstGeom>
        </p:spPr>
      </p:pic>
      <p:sp>
        <p:nvSpPr>
          <p:cNvPr id="8" name="Text 5"/>
          <p:cNvSpPr txBox="1"/>
          <p:nvPr/>
        </p:nvSpPr>
        <p:spPr>
          <a:xfrm>
            <a:off x="731520" y="5943600"/>
            <a:ext cx="8229600" cy="274320"/>
          </a:xfrm>
          <a:prstGeom prst="rect">
            <a:avLst/>
          </a:prstGeom>
          <a:noFill/>
          <a:ln/>
        </p:spPr>
        <p:txBody>
          <a:bodyPr wrap="square" lIns="0" tIns="0" rIns="0" bIns="0" rtlCol="0" anchor="ctr"/>
          <a:lstStyle/>
          <a:p>
            <a:pPr indent="0" marL="0">
              <a:buNone/>
            </a:pPr>
            <a:r>
              <a:rPr lang="en-US" sz="1100" dirty="0">
                <a:solidFill>
                  <a:srgbClr val="9AA5B8"/>
                </a:solidFill>
              </a:rPr>
              <a:t>Prepared by Wolf &amp; Co.  ·  Oct 19, 2026  ·  Replaces the services-led wave plan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WHY CHANGE THE PLAN</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The roadmap planned for a problem we no longer have</a:t>
            </a:r>
            <a:endParaRPr lang="en-US" sz="3000" dirty="0"/>
          </a:p>
        </p:txBody>
      </p:sp>
      <p:sp>
        <p:nvSpPr>
          <p:cNvPr id="4" name="card"/>
          <p:cNvSpPr/>
          <p:nvPr/>
        </p:nvSpPr>
        <p:spPr>
          <a:xfrm>
            <a:off x="548640" y="1554480"/>
            <a:ext cx="2670048" cy="2606040"/>
          </a:xfrm>
          <a:prstGeom prst="roundRect">
            <a:avLst>
              <a:gd name="adj" fmla="val 2807"/>
            </a:avLst>
          </a:prstGeom>
          <a:solidFill>
            <a:srgbClr val="F4F7FC"/>
          </a:solidFill>
          <a:ln w="12700">
            <a:solidFill>
              <a:srgbClr val="F4F7FC"/>
            </a:solidFill>
            <a:prstDash val="solid"/>
          </a:ln>
        </p:spPr>
      </p:sp>
      <p:sp>
        <p:nvSpPr>
          <p:cNvPr id="5" name="Shape 3"/>
          <p:cNvSpPr/>
          <p:nvPr/>
        </p:nvSpPr>
        <p:spPr>
          <a:xfrm>
            <a:off x="777240" y="1783080"/>
            <a:ext cx="411480" cy="411480"/>
          </a:xfrm>
          <a:prstGeom prst="ellipse">
            <a:avLst/>
          </a:prstGeom>
          <a:solidFill>
            <a:srgbClr val="1E2761"/>
          </a:solidFill>
          <a:ln w="12700">
            <a:solidFill>
              <a:srgbClr val="1E2761"/>
            </a:solidFill>
            <a:prstDash val="solid"/>
          </a:ln>
        </p:spPr>
      </p:sp>
      <p:pic>
        <p:nvPicPr>
          <p:cNvPr id="6" name="Image 0" descr="preencoded.png">    </p:cNvPr>
          <p:cNvPicPr>
            <a:picLocks noChangeAspect="1"/>
          </p:cNvPicPr>
          <p:nvPr/>
        </p:nvPicPr>
        <p:blipFill>
          <a:blip r:embed="rId1"/>
          <a:stretch>
            <a:fillRect/>
          </a:stretch>
        </p:blipFill>
        <p:spPr>
          <a:xfrm>
            <a:off x="859536" y="1865376"/>
            <a:ext cx="246888" cy="246888"/>
          </a:xfrm>
          <a:prstGeom prst="rect">
            <a:avLst/>
          </a:prstGeom>
        </p:spPr>
      </p:pic>
      <p:sp>
        <p:nvSpPr>
          <p:cNvPr id="7" name="Text 4"/>
          <p:cNvSpPr txBox="1"/>
          <p:nvPr/>
        </p:nvSpPr>
        <p:spPr>
          <a:xfrm>
            <a:off x="777240" y="2286000"/>
            <a:ext cx="219456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12</a:t>
            </a:r>
            <a:endParaRPr lang="en-US" sz="3200" dirty="0"/>
          </a:p>
        </p:txBody>
      </p:sp>
      <p:sp>
        <p:nvSpPr>
          <p:cNvPr id="8" name="Text 5"/>
          <p:cNvSpPr txBox="1"/>
          <p:nvPr/>
        </p:nvSpPr>
        <p:spPr>
          <a:xfrm>
            <a:off x="777240" y="2926080"/>
            <a:ext cx="2194560" cy="320040"/>
          </a:xfrm>
          <a:prstGeom prst="rect">
            <a:avLst/>
          </a:prstGeom>
          <a:noFill/>
          <a:ln/>
        </p:spPr>
        <p:txBody>
          <a:bodyPr wrap="square" lIns="0" tIns="0" rIns="0" bIns="0" rtlCol="0" anchor="ctr"/>
          <a:lstStyle/>
          <a:p>
            <a:pPr indent="0" marL="0">
              <a:buNone/>
            </a:pPr>
            <a:r>
              <a:rPr lang="en-US" sz="1300" b="1" dirty="0">
                <a:solidFill>
                  <a:srgbClr val="1B1F3B"/>
                </a:solidFill>
              </a:rPr>
              <a:t>recons trained</a:t>
            </a:r>
            <a:endParaRPr lang="en-US" sz="1300" dirty="0"/>
          </a:p>
        </p:txBody>
      </p:sp>
      <p:sp>
        <p:nvSpPr>
          <p:cNvPr id="9" name="Text 6"/>
          <p:cNvSpPr txBox="1"/>
          <p:nvPr/>
        </p:nvSpPr>
        <p:spPr>
          <a:xfrm>
            <a:off x="777240" y="3291840"/>
            <a:ext cx="2240280" cy="777240"/>
          </a:xfrm>
          <a:prstGeom prst="rect">
            <a:avLst/>
          </a:prstGeom>
          <a:noFill/>
          <a:ln/>
        </p:spPr>
        <p:txBody>
          <a:bodyPr wrap="square" lIns="0" tIns="0" rIns="0" bIns="0" rtlCol="0" anchor="t"/>
          <a:lstStyle/>
          <a:p>
            <a:pPr indent="0" marL="0">
              <a:buNone/>
            </a:pPr>
            <a:r>
              <a:rPr lang="en-US" sz="1100" dirty="0">
                <a:solidFill>
                  <a:srgbClr val="5B6472"/>
                </a:solidFill>
              </a:rPr>
              <a:t>Fed + 11 monthly, weeks before the plan's first template build on Nov 23.</a:t>
            </a:r>
            <a:endParaRPr lang="en-US" sz="1100" dirty="0"/>
          </a:p>
        </p:txBody>
      </p:sp>
      <p:sp>
        <p:nvSpPr>
          <p:cNvPr id="10" name="card"/>
          <p:cNvSpPr/>
          <p:nvPr/>
        </p:nvSpPr>
        <p:spPr>
          <a:xfrm>
            <a:off x="3364992" y="1554480"/>
            <a:ext cx="2670048" cy="2606040"/>
          </a:xfrm>
          <a:prstGeom prst="roundRect">
            <a:avLst>
              <a:gd name="adj" fmla="val 2807"/>
            </a:avLst>
          </a:prstGeom>
          <a:solidFill>
            <a:srgbClr val="F4F7FC"/>
          </a:solidFill>
          <a:ln w="12700">
            <a:solidFill>
              <a:srgbClr val="F4F7FC"/>
            </a:solidFill>
            <a:prstDash val="solid"/>
          </a:ln>
        </p:spPr>
      </p:sp>
      <p:sp>
        <p:nvSpPr>
          <p:cNvPr id="11" name="Shape 8"/>
          <p:cNvSpPr/>
          <p:nvPr/>
        </p:nvSpPr>
        <p:spPr>
          <a:xfrm>
            <a:off x="3593592" y="1783080"/>
            <a:ext cx="411480" cy="411480"/>
          </a:xfrm>
          <a:prstGeom prst="ellipse">
            <a:avLst/>
          </a:prstGeom>
          <a:solidFill>
            <a:srgbClr val="1E2761"/>
          </a:solidFill>
          <a:ln w="12700">
            <a:solidFill>
              <a:srgbClr val="1E2761"/>
            </a:solidFill>
            <a:prstDash val="solid"/>
          </a:ln>
        </p:spPr>
      </p:sp>
      <p:pic>
        <p:nvPicPr>
          <p:cNvPr id="12" name="Image 1" descr="preencoded.png">    </p:cNvPr>
          <p:cNvPicPr>
            <a:picLocks noChangeAspect="1"/>
          </p:cNvPicPr>
          <p:nvPr/>
        </p:nvPicPr>
        <p:blipFill>
          <a:blip r:embed="rId2"/>
          <a:stretch>
            <a:fillRect/>
          </a:stretch>
        </p:blipFill>
        <p:spPr>
          <a:xfrm>
            <a:off x="3675888" y="1865376"/>
            <a:ext cx="246888" cy="246888"/>
          </a:xfrm>
          <a:prstGeom prst="rect">
            <a:avLst/>
          </a:prstGeom>
        </p:spPr>
      </p:pic>
      <p:sp>
        <p:nvSpPr>
          <p:cNvPr id="13" name="Text 9"/>
          <p:cNvSpPr txBox="1"/>
          <p:nvPr/>
        </p:nvSpPr>
        <p:spPr>
          <a:xfrm>
            <a:off x="3593592" y="2286000"/>
            <a:ext cx="219456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9 / 12</a:t>
            </a:r>
            <a:endParaRPr lang="en-US" sz="3200" dirty="0"/>
          </a:p>
        </p:txBody>
      </p:sp>
      <p:sp>
        <p:nvSpPr>
          <p:cNvPr id="14" name="Text 10"/>
          <p:cNvSpPr txBox="1"/>
          <p:nvPr/>
        </p:nvSpPr>
        <p:spPr>
          <a:xfrm>
            <a:off x="3593592" y="2926080"/>
            <a:ext cx="2194560" cy="320040"/>
          </a:xfrm>
          <a:prstGeom prst="rect">
            <a:avLst/>
          </a:prstGeom>
          <a:noFill/>
          <a:ln/>
        </p:spPr>
        <p:txBody>
          <a:bodyPr wrap="square" lIns="0" tIns="0" rIns="0" bIns="0" rtlCol="0" anchor="ctr"/>
          <a:lstStyle/>
          <a:p>
            <a:pPr indent="0" marL="0">
              <a:buNone/>
            </a:pPr>
            <a:r>
              <a:rPr lang="en-US" sz="1300" b="1" dirty="0">
                <a:solidFill>
                  <a:srgbClr val="1B1F3B"/>
                </a:solidFill>
              </a:rPr>
              <a:t>tie on history</a:t>
            </a:r>
            <a:endParaRPr lang="en-US" sz="1300" dirty="0"/>
          </a:p>
        </p:txBody>
      </p:sp>
      <p:sp>
        <p:nvSpPr>
          <p:cNvPr id="15" name="Text 11"/>
          <p:cNvSpPr txBox="1"/>
          <p:nvPr/>
        </p:nvSpPr>
        <p:spPr>
          <a:xfrm>
            <a:off x="3593592" y="3291840"/>
            <a:ext cx="2240280" cy="777240"/>
          </a:xfrm>
          <a:prstGeom prst="rect">
            <a:avLst/>
          </a:prstGeom>
          <a:noFill/>
          <a:ln/>
        </p:spPr>
        <p:txBody>
          <a:bodyPr wrap="square" lIns="0" tIns="0" rIns="0" bIns="0" rtlCol="0" anchor="t"/>
          <a:lstStyle/>
          <a:p>
            <a:pPr indent="0" marL="0">
              <a:buNone/>
            </a:pPr>
            <a:r>
              <a:rPr lang="en-US" sz="1100" dirty="0">
                <a:solidFill>
                  <a:srgbClr val="5B6472"/>
                </a:solidFill>
              </a:rPr>
              <a:t>Two months each. The matching itself is not where the risk is.</a:t>
            </a:r>
            <a:endParaRPr lang="en-US" sz="1100" dirty="0"/>
          </a:p>
        </p:txBody>
      </p:sp>
      <p:sp>
        <p:nvSpPr>
          <p:cNvPr id="16" name="card"/>
          <p:cNvSpPr/>
          <p:nvPr/>
        </p:nvSpPr>
        <p:spPr>
          <a:xfrm>
            <a:off x="6181344" y="1554480"/>
            <a:ext cx="2670048" cy="2606040"/>
          </a:xfrm>
          <a:prstGeom prst="roundRect">
            <a:avLst>
              <a:gd name="adj" fmla="val 2807"/>
            </a:avLst>
          </a:prstGeom>
          <a:solidFill>
            <a:srgbClr val="F4F7FC"/>
          </a:solidFill>
          <a:ln w="12700">
            <a:solidFill>
              <a:srgbClr val="F4F7FC"/>
            </a:solidFill>
            <a:prstDash val="solid"/>
          </a:ln>
        </p:spPr>
      </p:sp>
      <p:sp>
        <p:nvSpPr>
          <p:cNvPr id="17" name="Shape 13"/>
          <p:cNvSpPr/>
          <p:nvPr/>
        </p:nvSpPr>
        <p:spPr>
          <a:xfrm>
            <a:off x="6409944" y="1783080"/>
            <a:ext cx="411480" cy="411480"/>
          </a:xfrm>
          <a:prstGeom prst="ellipse">
            <a:avLst/>
          </a:prstGeom>
          <a:solidFill>
            <a:srgbClr val="1E2761"/>
          </a:solidFill>
          <a:ln w="12700">
            <a:solidFill>
              <a:srgbClr val="1E2761"/>
            </a:solidFill>
            <a:prstDash val="solid"/>
          </a:ln>
        </p:spPr>
      </p:sp>
      <p:pic>
        <p:nvPicPr>
          <p:cNvPr id="18" name="Image 2" descr="preencoded.png">    </p:cNvPr>
          <p:cNvPicPr>
            <a:picLocks noChangeAspect="1"/>
          </p:cNvPicPr>
          <p:nvPr/>
        </p:nvPicPr>
        <p:blipFill>
          <a:blip r:embed="rId3"/>
          <a:stretch>
            <a:fillRect/>
          </a:stretch>
        </p:blipFill>
        <p:spPr>
          <a:xfrm>
            <a:off x="6492240" y="1865376"/>
            <a:ext cx="246888" cy="246888"/>
          </a:xfrm>
          <a:prstGeom prst="rect">
            <a:avLst/>
          </a:prstGeom>
        </p:spPr>
      </p:pic>
      <p:sp>
        <p:nvSpPr>
          <p:cNvPr id="19" name="Text 14"/>
          <p:cNvSpPr txBox="1"/>
          <p:nvPr/>
        </p:nvSpPr>
        <p:spPr>
          <a:xfrm>
            <a:off x="6409944" y="2286000"/>
            <a:ext cx="219456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3</a:t>
            </a:r>
            <a:endParaRPr lang="en-US" sz="3200" dirty="0"/>
          </a:p>
        </p:txBody>
      </p:sp>
      <p:sp>
        <p:nvSpPr>
          <p:cNvPr id="20" name="Text 15"/>
          <p:cNvSpPr txBox="1"/>
          <p:nvPr/>
        </p:nvSpPr>
        <p:spPr>
          <a:xfrm>
            <a:off x="6409944" y="2926080"/>
            <a:ext cx="2194560" cy="320040"/>
          </a:xfrm>
          <a:prstGeom prst="rect">
            <a:avLst/>
          </a:prstGeom>
          <a:noFill/>
          <a:ln/>
        </p:spPr>
        <p:txBody>
          <a:bodyPr wrap="square" lIns="0" tIns="0" rIns="0" bIns="0" rtlCol="0" anchor="ctr"/>
          <a:lstStyle/>
          <a:p>
            <a:pPr indent="0" marL="0">
              <a:buNone/>
            </a:pPr>
            <a:r>
              <a:rPr lang="en-US" sz="1300" b="1" dirty="0">
                <a:solidFill>
                  <a:srgbClr val="1B1F3B"/>
                </a:solidFill>
              </a:rPr>
              <a:t>breaks, all Leader's</a:t>
            </a:r>
            <a:endParaRPr lang="en-US" sz="1300" dirty="0"/>
          </a:p>
        </p:txBody>
      </p:sp>
      <p:sp>
        <p:nvSpPr>
          <p:cNvPr id="21" name="Text 16"/>
          <p:cNvSpPr txBox="1"/>
          <p:nvPr/>
        </p:nvSpPr>
        <p:spPr>
          <a:xfrm>
            <a:off x="6409944" y="3291840"/>
            <a:ext cx="2240280" cy="777240"/>
          </a:xfrm>
          <a:prstGeom prst="rect">
            <a:avLst/>
          </a:prstGeom>
          <a:noFill/>
          <a:ln/>
        </p:spPr>
        <p:txBody>
          <a:bodyPr wrap="square" lIns="0" tIns="0" rIns="0" bIns="0" rtlCol="0" anchor="t"/>
          <a:lstStyle/>
          <a:p>
            <a:pPr indent="0" marL="0">
              <a:buNone/>
            </a:pPr>
            <a:r>
              <a:rPr lang="en-US" sz="1100" dirty="0">
                <a:solidFill>
                  <a:srgbClr val="5B6472"/>
                </a:solidFill>
              </a:rPr>
              <a:t>A stale GL figure, a sign typed backwards, and misclassified accounts.</a:t>
            </a:r>
            <a:endParaRPr lang="en-US" sz="1100" dirty="0"/>
          </a:p>
        </p:txBody>
      </p:sp>
      <p:sp>
        <p:nvSpPr>
          <p:cNvPr id="22" name="card"/>
          <p:cNvSpPr/>
          <p:nvPr/>
        </p:nvSpPr>
        <p:spPr>
          <a:xfrm>
            <a:off x="8997696" y="1554480"/>
            <a:ext cx="2670048" cy="2606040"/>
          </a:xfrm>
          <a:prstGeom prst="roundRect">
            <a:avLst>
              <a:gd name="adj" fmla="val 2807"/>
            </a:avLst>
          </a:prstGeom>
          <a:solidFill>
            <a:srgbClr val="F4F7FC"/>
          </a:solidFill>
          <a:ln w="12700">
            <a:solidFill>
              <a:srgbClr val="F4F7FC"/>
            </a:solidFill>
            <a:prstDash val="solid"/>
          </a:ln>
        </p:spPr>
      </p:sp>
      <p:sp>
        <p:nvSpPr>
          <p:cNvPr id="23" name="Shape 18"/>
          <p:cNvSpPr/>
          <p:nvPr/>
        </p:nvSpPr>
        <p:spPr>
          <a:xfrm>
            <a:off x="9226296" y="1783080"/>
            <a:ext cx="411480" cy="411480"/>
          </a:xfrm>
          <a:prstGeom prst="ellipse">
            <a:avLst/>
          </a:prstGeom>
          <a:solidFill>
            <a:srgbClr val="1E2761"/>
          </a:solidFill>
          <a:ln w="12700">
            <a:solidFill>
              <a:srgbClr val="1E2761"/>
            </a:solidFill>
            <a:prstDash val="solid"/>
          </a:ln>
        </p:spPr>
      </p:sp>
      <p:pic>
        <p:nvPicPr>
          <p:cNvPr id="24" name="Image 3" descr="preencoded.png">    </p:cNvPr>
          <p:cNvPicPr>
            <a:picLocks noChangeAspect="1"/>
          </p:cNvPicPr>
          <p:nvPr/>
        </p:nvPicPr>
        <p:blipFill>
          <a:blip r:embed="rId4"/>
          <a:stretch>
            <a:fillRect/>
          </a:stretch>
        </p:blipFill>
        <p:spPr>
          <a:xfrm>
            <a:off x="9308592" y="1865376"/>
            <a:ext cx="246888" cy="246888"/>
          </a:xfrm>
          <a:prstGeom prst="rect">
            <a:avLst/>
          </a:prstGeom>
        </p:spPr>
      </p:pic>
      <p:sp>
        <p:nvSpPr>
          <p:cNvPr id="25" name="Text 19"/>
          <p:cNvSpPr txBox="1"/>
          <p:nvPr/>
        </p:nvSpPr>
        <p:spPr>
          <a:xfrm>
            <a:off x="9226296" y="2286000"/>
            <a:ext cx="219456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24</a:t>
            </a:r>
            <a:endParaRPr lang="en-US" sz="3200" dirty="0"/>
          </a:p>
        </p:txBody>
      </p:sp>
      <p:sp>
        <p:nvSpPr>
          <p:cNvPr id="26" name="Text 20"/>
          <p:cNvSpPr txBox="1"/>
          <p:nvPr/>
        </p:nvSpPr>
        <p:spPr>
          <a:xfrm>
            <a:off x="9226296" y="2926080"/>
            <a:ext cx="2194560" cy="320040"/>
          </a:xfrm>
          <a:prstGeom prst="rect">
            <a:avLst/>
          </a:prstGeom>
          <a:noFill/>
          <a:ln/>
        </p:spPr>
        <p:txBody>
          <a:bodyPr wrap="square" lIns="0" tIns="0" rIns="0" bIns="0" rtlCol="0" anchor="ctr"/>
          <a:lstStyle/>
          <a:p>
            <a:pPr indent="0" marL="0">
              <a:buNone/>
            </a:pPr>
            <a:r>
              <a:rPr lang="en-US" sz="1300" b="1" dirty="0">
                <a:solidFill>
                  <a:srgbClr val="1B1F3B"/>
                </a:solidFill>
              </a:rPr>
              <a:t>forms ≈ the type library</a:t>
            </a:r>
            <a:endParaRPr lang="en-US" sz="1300" dirty="0"/>
          </a:p>
        </p:txBody>
      </p:sp>
      <p:sp>
        <p:nvSpPr>
          <p:cNvPr id="27" name="Text 21"/>
          <p:cNvSpPr txBox="1"/>
          <p:nvPr/>
        </p:nvSpPr>
        <p:spPr>
          <a:xfrm>
            <a:off x="9226296" y="3291840"/>
            <a:ext cx="2240280" cy="777240"/>
          </a:xfrm>
          <a:prstGeom prst="rect">
            <a:avLst/>
          </a:prstGeom>
          <a:noFill/>
          <a:ln/>
        </p:spPr>
        <p:txBody>
          <a:bodyPr wrap="square" lIns="0" tIns="0" rIns="0" bIns="0" rtlCol="0" anchor="t"/>
          <a:lstStyle/>
          <a:p>
            <a:pPr indent="0" marL="0">
              <a:buNone/>
            </a:pPr>
            <a:r>
              <a:rPr lang="en-US" sz="1100" dirty="0">
                <a:solidFill>
                  <a:srgbClr val="5B6472"/>
                </a:solidFill>
              </a:rPr>
              <a:t>The roadmap estimated ~18 types behind the 600+. One LIP form covers 6 GL accounts.</a:t>
            </a:r>
            <a:endParaRPr lang="en-US" sz="1100" dirty="0"/>
          </a:p>
        </p:txBody>
      </p:sp>
      <p:sp>
        <p:nvSpPr>
          <p:cNvPr id="28" name="callout"/>
          <p:cNvSpPr/>
          <p:nvPr/>
        </p:nvSpPr>
        <p:spPr>
          <a:xfrm>
            <a:off x="548640" y="4389120"/>
            <a:ext cx="11064240" cy="1737360"/>
          </a:xfrm>
          <a:prstGeom prst="roundRect">
            <a:avLst>
              <a:gd name="adj" fmla="val 4211"/>
            </a:avLst>
          </a:prstGeom>
          <a:solidFill>
            <a:srgbClr val="1E2761"/>
          </a:solidFill>
          <a:ln w="12700">
            <a:solidFill>
              <a:srgbClr val="1E2761"/>
            </a:solidFill>
            <a:prstDash val="solid"/>
          </a:ln>
        </p:spPr>
      </p:sp>
      <p:sp>
        <p:nvSpPr>
          <p:cNvPr id="29" name="Shape 23"/>
          <p:cNvSpPr/>
          <p:nvPr/>
        </p:nvSpPr>
        <p:spPr>
          <a:xfrm>
            <a:off x="822960" y="4617720"/>
            <a:ext cx="411480" cy="411480"/>
          </a:xfrm>
          <a:prstGeom prst="ellipse">
            <a:avLst/>
          </a:prstGeom>
          <a:solidFill>
            <a:srgbClr val="E8A33D"/>
          </a:solidFill>
          <a:ln w="12700">
            <a:solidFill>
              <a:srgbClr val="E8A33D"/>
            </a:solidFill>
            <a:prstDash val="solid"/>
          </a:ln>
        </p:spPr>
      </p:sp>
      <p:pic>
        <p:nvPicPr>
          <p:cNvPr id="30" name="Image 4" descr="preencoded.png">    </p:cNvPr>
          <p:cNvPicPr>
            <a:picLocks noChangeAspect="1"/>
          </p:cNvPicPr>
          <p:nvPr/>
        </p:nvPicPr>
        <p:blipFill>
          <a:blip r:embed="rId5"/>
          <a:stretch>
            <a:fillRect/>
          </a:stretch>
        </p:blipFill>
        <p:spPr>
          <a:xfrm>
            <a:off x="905256" y="4700016"/>
            <a:ext cx="246888" cy="246888"/>
          </a:xfrm>
          <a:prstGeom prst="rect">
            <a:avLst/>
          </a:prstGeom>
        </p:spPr>
      </p:pic>
      <p:sp>
        <p:nvSpPr>
          <p:cNvPr id="31" name="Text 24"/>
          <p:cNvSpPr txBox="1"/>
          <p:nvPr/>
        </p:nvSpPr>
        <p:spPr>
          <a:xfrm>
            <a:off x="1417320" y="4572000"/>
            <a:ext cx="9966960" cy="1371600"/>
          </a:xfrm>
          <a:prstGeom prst="rect">
            <a:avLst/>
          </a:prstGeom>
          <a:noFill/>
          <a:ln/>
        </p:spPr>
        <p:txBody>
          <a:bodyPr wrap="square" lIns="0" tIns="0" rIns="0" bIns="0" rtlCol="0" anchor="ctr"/>
          <a:lstStyle/>
          <a:p>
            <a:pPr indent="0" marL="0">
              <a:buNone/>
            </a:pPr>
            <a:r>
              <a:rPr lang="en-US" sz="1300" dirty="0">
                <a:solidFill>
                  <a:srgbClr val="FFFFFF"/>
                </a:solidFill>
              </a:rPr>
              <a:t>The roadmap's labor model assumed two things: </a:t>
            </a:r>
            <a:pPr indent="0" marL="0">
              <a:buNone/>
            </a:pPr>
            <a:r>
              <a:rPr lang="en-US" sz="1300" b="1" dirty="0">
                <a:solidFill>
                  <a:srgbClr val="E8A33D"/>
                </a:solidFill>
              </a:rPr>
              <a:t>building types would be hard, and self-service didn't exist. </a:t>
            </a:r>
            <a:pPr indent="0" marL="0">
              <a:buNone/>
            </a:pPr>
            <a:r>
              <a:rPr lang="en-US" sz="1300" dirty="0">
                <a:solidFill>
                  <a:srgbClr val="FFFFFF"/>
                </a:solidFill>
              </a:rPr>
              <a:t>So it had Wolf &amp; Co. hand-configuring ~40 recons per wave through April, with Leader earning independence step by step until Wave 6. Neither assumption holds. That effort belongs in the platform, where it compounds, rather than in our hours, where it doesn't.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WHAT CHANGES</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From services-led waves to a platform-led rollout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194560"/>
                <a:gridCol w="4114800"/>
                <a:gridCol w="4754880"/>
              </a:tblGrid>
              <a:tr h="548640">
                <a:tc>
                  <a:txBody>
                    <a:bodyPr/>
                    <a:lstStyle/>
                    <a:p>
                      <a:pPr indent="0" marL="0">
                        <a:buNone/>
                      </a:pP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Roadmap (Sep 28)</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Platform-led (proposed)</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E2761"/>
                    </a:solidFill>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Who sets up recons</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Wolf &amp; Co., ~40 per wave, tapering only from Wave 3</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Leader's owners, from the Jan 12 pilot</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How we learn</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Our people beside theirs, wave by wave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In-app feedback on every result, sorted into buckets and routed to us</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Promotion gate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A meeting and a checklist per wave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Built into the platform: ties to signed figures, every variance labeled, sign-off recorded</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Inventory</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Working sessions with every recon owner</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Owners tag each of their 600 recons with one of the 24 types, or "doesn't fit"</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Self-service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A five-month ladder; independent from Apr 13</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The default from day one; we review what gets flagged, not every recon</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Our time goes to</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Configuring instances</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Types, reader gaps, setup tooling and the feedback loop</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48640">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End date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All ~600 by May 25</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All ~600 in March, if setup time per recon comes down (see slide 7)</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THE PLAN IN FOUR MOVES</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Types first, then the platform does the scaling</a:t>
            </a:r>
            <a:endParaRPr lang="en-US" sz="3000" dirty="0"/>
          </a:p>
        </p:txBody>
      </p:sp>
      <p:sp>
        <p:nvSpPr>
          <p:cNvPr id="4" name="card"/>
          <p:cNvSpPr/>
          <p:nvPr/>
        </p:nvSpPr>
        <p:spPr>
          <a:xfrm>
            <a:off x="548640" y="1554480"/>
            <a:ext cx="2670048" cy="3657600"/>
          </a:xfrm>
          <a:prstGeom prst="roundRect">
            <a:avLst>
              <a:gd name="adj" fmla="val 2740"/>
            </a:avLst>
          </a:prstGeom>
          <a:solidFill>
            <a:srgbClr val="F4F7FC"/>
          </a:solidFill>
          <a:ln w="12700">
            <a:solidFill>
              <a:srgbClr val="F4F7FC"/>
            </a:solidFill>
            <a:prstDash val="solid"/>
          </a:ln>
        </p:spPr>
      </p:sp>
      <p:sp>
        <p:nvSpPr>
          <p:cNvPr id="5" name="Shape 3"/>
          <p:cNvSpPr/>
          <p:nvPr/>
        </p:nvSpPr>
        <p:spPr>
          <a:xfrm>
            <a:off x="777240" y="1783080"/>
            <a:ext cx="411480" cy="411480"/>
          </a:xfrm>
          <a:prstGeom prst="ellipse">
            <a:avLst/>
          </a:prstGeom>
          <a:solidFill>
            <a:srgbClr val="1E2761"/>
          </a:solidFill>
          <a:ln w="12700">
            <a:solidFill>
              <a:srgbClr val="1E2761"/>
            </a:solidFill>
            <a:prstDash val="solid"/>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5"/>
          <p:cNvSpPr txBox="1"/>
          <p:nvPr/>
        </p:nvSpPr>
        <p:spPr>
          <a:xfrm>
            <a:off x="1325880" y="1783080"/>
            <a:ext cx="1737360" cy="411480"/>
          </a:xfrm>
          <a:prstGeom prst="rect">
            <a:avLst/>
          </a:prstGeom>
          <a:noFill/>
          <a:ln/>
        </p:spPr>
        <p:txBody>
          <a:bodyPr wrap="square" lIns="0" tIns="0" rIns="0" bIns="0" rtlCol="0" anchor="ctr"/>
          <a:lstStyle/>
          <a:p>
            <a:pPr indent="0" marL="0">
              <a:buNone/>
            </a:pPr>
            <a:r>
              <a:rPr lang="en-US" sz="1200" b="1" dirty="0">
                <a:solidFill>
                  <a:srgbClr val="E8A33D"/>
                </a:solidFill>
              </a:rPr>
              <a:t>By Nov 6</a:t>
            </a:r>
            <a:endParaRPr lang="en-US" sz="1200" dirty="0"/>
          </a:p>
        </p:txBody>
      </p:sp>
      <p:sp>
        <p:nvSpPr>
          <p:cNvPr id="8" name="Text 6"/>
          <p:cNvSpPr txBox="1"/>
          <p:nvPr/>
        </p:nvSpPr>
        <p:spPr>
          <a:xfrm>
            <a:off x="777240" y="2377440"/>
            <a:ext cx="2286000"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Finish the type library</a:t>
            </a:r>
            <a:endParaRPr lang="en-US" sz="1600" dirty="0"/>
          </a:p>
        </p:txBody>
      </p:sp>
      <p:sp>
        <p:nvSpPr>
          <p:cNvPr id="9" name="Text 7"/>
          <p:cNvSpPr txBox="1"/>
          <p:nvPr/>
        </p:nvSpPr>
        <p:spPr>
          <a:xfrm>
            <a:off x="777240" y="3108960"/>
            <a:ext cx="2286000" cy="1965960"/>
          </a:xfrm>
          <a:prstGeom prst="rect">
            <a:avLst/>
          </a:prstGeom>
          <a:noFill/>
          <a:ln/>
        </p:spPr>
        <p:txBody>
          <a:bodyPr wrap="square" lIns="0" tIns="0" rIns="0" bIns="0" rtlCol="0" anchor="t"/>
          <a:lstStyle/>
          <a:p>
            <a:pPr indent="0" marL="0">
              <a:buNone/>
            </a:pPr>
            <a:r>
              <a:rPr lang="en-US" sz="1200" dirty="0">
                <a:solidFill>
                  <a:srgbClr val="5B6472"/>
                </a:solidFill>
              </a:rPr>
              <a:t>Train the remaining 12 forms: SLIP, Ramp, Escrow, Narmi, Deposit, DDA, Deferred Tax Asset, Loan Accrued Interest and four LIP forms.</a:t>
            </a:r>
            <a:endParaRPr lang="en-US" sz="1200" dirty="0"/>
          </a:p>
        </p:txBody>
      </p:sp>
      <p:pic>
        <p:nvPicPr>
          <p:cNvPr id="10" name="Image 0" descr="preencoded.png">    </p:cNvPr>
          <p:cNvPicPr>
            <a:picLocks noChangeAspect="1"/>
          </p:cNvPicPr>
          <p:nvPr/>
        </p:nvPicPr>
        <p:blipFill>
          <a:blip r:embed="rId1"/>
          <a:stretch>
            <a:fillRect/>
          </a:stretch>
        </p:blipFill>
        <p:spPr>
          <a:xfrm>
            <a:off x="3227832" y="3246120"/>
            <a:ext cx="146304" cy="274320"/>
          </a:xfrm>
          <a:prstGeom prst="rect">
            <a:avLst/>
          </a:prstGeom>
        </p:spPr>
      </p:pic>
      <p:sp>
        <p:nvSpPr>
          <p:cNvPr id="11" name="card"/>
          <p:cNvSpPr/>
          <p:nvPr/>
        </p:nvSpPr>
        <p:spPr>
          <a:xfrm>
            <a:off x="3364992" y="1554480"/>
            <a:ext cx="2670048" cy="3657600"/>
          </a:xfrm>
          <a:prstGeom prst="roundRect">
            <a:avLst>
              <a:gd name="adj" fmla="val 2740"/>
            </a:avLst>
          </a:prstGeom>
          <a:solidFill>
            <a:srgbClr val="F4F7FC"/>
          </a:solidFill>
          <a:ln w="12700">
            <a:solidFill>
              <a:srgbClr val="F4F7FC"/>
            </a:solidFill>
            <a:prstDash val="solid"/>
          </a:ln>
        </p:spPr>
      </p:sp>
      <p:sp>
        <p:nvSpPr>
          <p:cNvPr id="12" name="Shape 9"/>
          <p:cNvSpPr/>
          <p:nvPr/>
        </p:nvSpPr>
        <p:spPr>
          <a:xfrm>
            <a:off x="3593592" y="1783080"/>
            <a:ext cx="411480" cy="411480"/>
          </a:xfrm>
          <a:prstGeom prst="ellipse">
            <a:avLst/>
          </a:prstGeom>
          <a:solidFill>
            <a:srgbClr val="1E2761"/>
          </a:solidFill>
          <a:ln w="12700">
            <a:solidFill>
              <a:srgbClr val="1E2761"/>
            </a:solidFill>
            <a:prstDash val="solid"/>
          </a:ln>
        </p:spPr>
      </p:sp>
      <p:sp>
        <p:nvSpPr>
          <p:cNvPr id="13" name="Text 10"/>
          <p:cNvSpPr txBox="1"/>
          <p:nvPr/>
        </p:nvSpPr>
        <p:spPr>
          <a:xfrm>
            <a:off x="3593592"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4142232" y="1783080"/>
            <a:ext cx="1737360" cy="411480"/>
          </a:xfrm>
          <a:prstGeom prst="rect">
            <a:avLst/>
          </a:prstGeom>
          <a:noFill/>
          <a:ln/>
        </p:spPr>
        <p:txBody>
          <a:bodyPr wrap="square" lIns="0" tIns="0" rIns="0" bIns="0" rtlCol="0" anchor="ctr"/>
          <a:lstStyle/>
          <a:p>
            <a:pPr indent="0" marL="0">
              <a:buNone/>
            </a:pPr>
            <a:r>
              <a:rPr lang="en-US" sz="1200" b="1" dirty="0">
                <a:solidFill>
                  <a:srgbClr val="E8A33D"/>
                </a:solidFill>
              </a:rPr>
              <a:t>By Nov 6</a:t>
            </a:r>
            <a:endParaRPr lang="en-US" sz="1200" dirty="0"/>
          </a:p>
        </p:txBody>
      </p:sp>
      <p:sp>
        <p:nvSpPr>
          <p:cNvPr id="15" name="Text 12"/>
          <p:cNvSpPr txBox="1"/>
          <p:nvPr/>
        </p:nvSpPr>
        <p:spPr>
          <a:xfrm>
            <a:off x="3593592" y="2377440"/>
            <a:ext cx="2286000"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Map the 600 to types</a:t>
            </a:r>
            <a:endParaRPr lang="en-US" sz="1600" dirty="0"/>
          </a:p>
        </p:txBody>
      </p:sp>
      <p:sp>
        <p:nvSpPr>
          <p:cNvPr id="16" name="Text 13"/>
          <p:cNvSpPr txBox="1"/>
          <p:nvPr/>
        </p:nvSpPr>
        <p:spPr>
          <a:xfrm>
            <a:off x="3593592" y="3108960"/>
            <a:ext cx="2286000" cy="1965960"/>
          </a:xfrm>
          <a:prstGeom prst="rect">
            <a:avLst/>
          </a:prstGeom>
          <a:noFill/>
          <a:ln/>
        </p:spPr>
        <p:txBody>
          <a:bodyPr wrap="square" lIns="0" tIns="0" rIns="0" bIns="0" rtlCol="0" anchor="t"/>
          <a:lstStyle/>
          <a:p>
            <a:pPr indent="0" marL="0">
              <a:buNone/>
            </a:pPr>
            <a:r>
              <a:rPr lang="en-US" sz="1200" dirty="0">
                <a:solidFill>
                  <a:srgbClr val="5B6472"/>
                </a:solidFill>
              </a:rPr>
              <a:t>Each owner tags their recons with one of the 24 types or "doesn't fit". A few hours each, and the only proof that 24 types really is enough.</a:t>
            </a:r>
            <a:endParaRPr lang="en-US" sz="1200" dirty="0"/>
          </a:p>
        </p:txBody>
      </p:sp>
      <p:pic>
        <p:nvPicPr>
          <p:cNvPr id="17" name="Image 1" descr="preencoded.png">    </p:cNvPr>
          <p:cNvPicPr>
            <a:picLocks noChangeAspect="1"/>
          </p:cNvPicPr>
          <p:nvPr/>
        </p:nvPicPr>
        <p:blipFill>
          <a:blip r:embed="rId2"/>
          <a:stretch>
            <a:fillRect/>
          </a:stretch>
        </p:blipFill>
        <p:spPr>
          <a:xfrm>
            <a:off x="6044184" y="3246120"/>
            <a:ext cx="146304" cy="274320"/>
          </a:xfrm>
          <a:prstGeom prst="rect">
            <a:avLst/>
          </a:prstGeom>
        </p:spPr>
      </p:pic>
      <p:sp>
        <p:nvSpPr>
          <p:cNvPr id="18" name="card"/>
          <p:cNvSpPr/>
          <p:nvPr/>
        </p:nvSpPr>
        <p:spPr>
          <a:xfrm>
            <a:off x="6181344" y="1554480"/>
            <a:ext cx="2670048" cy="3657600"/>
          </a:xfrm>
          <a:prstGeom prst="roundRect">
            <a:avLst>
              <a:gd name="adj" fmla="val 2740"/>
            </a:avLst>
          </a:prstGeom>
          <a:solidFill>
            <a:srgbClr val="F4F7FC"/>
          </a:solidFill>
          <a:ln w="12700">
            <a:solidFill>
              <a:srgbClr val="F4F7FC"/>
            </a:solidFill>
            <a:prstDash val="solid"/>
          </a:ln>
        </p:spPr>
      </p:sp>
      <p:sp>
        <p:nvSpPr>
          <p:cNvPr id="19" name="Shape 15"/>
          <p:cNvSpPr/>
          <p:nvPr/>
        </p:nvSpPr>
        <p:spPr>
          <a:xfrm>
            <a:off x="6409944" y="1783080"/>
            <a:ext cx="411480" cy="411480"/>
          </a:xfrm>
          <a:prstGeom prst="ellipse">
            <a:avLst/>
          </a:prstGeom>
          <a:solidFill>
            <a:srgbClr val="1E2761"/>
          </a:solidFill>
          <a:ln w="12700">
            <a:solidFill>
              <a:srgbClr val="1E2761"/>
            </a:solidFill>
            <a:prstDash val="solid"/>
          </a:ln>
        </p:spPr>
      </p:sp>
      <p:sp>
        <p:nvSpPr>
          <p:cNvPr id="20" name="Text 16"/>
          <p:cNvSpPr txBox="1"/>
          <p:nvPr/>
        </p:nvSpPr>
        <p:spPr>
          <a:xfrm>
            <a:off x="6409944"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7"/>
          <p:cNvSpPr txBox="1"/>
          <p:nvPr/>
        </p:nvSpPr>
        <p:spPr>
          <a:xfrm>
            <a:off x="6958584" y="1783080"/>
            <a:ext cx="1737360" cy="411480"/>
          </a:xfrm>
          <a:prstGeom prst="rect">
            <a:avLst/>
          </a:prstGeom>
          <a:noFill/>
          <a:ln/>
        </p:spPr>
        <p:txBody>
          <a:bodyPr wrap="square" lIns="0" tIns="0" rIns="0" bIns="0" rtlCol="0" anchor="ctr"/>
          <a:lstStyle/>
          <a:p>
            <a:pPr indent="0" marL="0">
              <a:buNone/>
            </a:pPr>
            <a:r>
              <a:rPr lang="en-US" sz="1200" b="1" dirty="0">
                <a:solidFill>
                  <a:srgbClr val="E8A33D"/>
                </a:solidFill>
              </a:rPr>
              <a:t>Nov – Dec</a:t>
            </a:r>
            <a:endParaRPr lang="en-US" sz="1200" dirty="0"/>
          </a:p>
        </p:txBody>
      </p:sp>
      <p:sp>
        <p:nvSpPr>
          <p:cNvPr id="22" name="Text 18"/>
          <p:cNvSpPr txBox="1"/>
          <p:nvPr/>
        </p:nvSpPr>
        <p:spPr>
          <a:xfrm>
            <a:off x="6409944" y="2377440"/>
            <a:ext cx="2286000" cy="68580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Build the loop into the platform</a:t>
            </a:r>
            <a:endParaRPr lang="en-US" sz="1600" dirty="0"/>
          </a:p>
        </p:txBody>
      </p:sp>
      <p:sp>
        <p:nvSpPr>
          <p:cNvPr id="23" name="Text 19"/>
          <p:cNvSpPr txBox="1"/>
          <p:nvPr/>
        </p:nvSpPr>
        <p:spPr>
          <a:xfrm>
            <a:off x="6409944" y="3108960"/>
            <a:ext cx="2286000" cy="1965960"/>
          </a:xfrm>
          <a:prstGeom prst="rect">
            <a:avLst/>
          </a:prstGeom>
          <a:noFill/>
          <a:ln/>
        </p:spPr>
        <p:txBody>
          <a:bodyPr wrap="square" lIns="0" tIns="0" rIns="0" bIns="0" rtlCol="0" anchor="t"/>
          <a:lstStyle/>
          <a:p>
            <a:pPr indent="0" marL="0">
              <a:buNone/>
            </a:pPr>
            <a:r>
              <a:rPr lang="en-US" sz="1200" dirty="0">
                <a:solidFill>
                  <a:srgbClr val="5B6472"/>
                </a:solidFill>
              </a:rPr>
              <a:t>A "this result is wrong" action, the gate as a feature, the upload checklist, the question layer and setup tooling.</a:t>
            </a:r>
            <a:endParaRPr lang="en-US" sz="1200" dirty="0"/>
          </a:p>
        </p:txBody>
      </p:sp>
      <p:pic>
        <p:nvPicPr>
          <p:cNvPr id="24" name="Image 2" descr="preencoded.png">    </p:cNvPr>
          <p:cNvPicPr>
            <a:picLocks noChangeAspect="1"/>
          </p:cNvPicPr>
          <p:nvPr/>
        </p:nvPicPr>
        <p:blipFill>
          <a:blip r:embed="rId3"/>
          <a:stretch>
            <a:fillRect/>
          </a:stretch>
        </p:blipFill>
        <p:spPr>
          <a:xfrm>
            <a:off x="8860536" y="3246120"/>
            <a:ext cx="146304" cy="274320"/>
          </a:xfrm>
          <a:prstGeom prst="rect">
            <a:avLst/>
          </a:prstGeom>
        </p:spPr>
      </p:pic>
      <p:sp>
        <p:nvSpPr>
          <p:cNvPr id="25" name="card"/>
          <p:cNvSpPr/>
          <p:nvPr/>
        </p:nvSpPr>
        <p:spPr>
          <a:xfrm>
            <a:off x="8997696" y="1554480"/>
            <a:ext cx="2670048" cy="3657600"/>
          </a:xfrm>
          <a:prstGeom prst="roundRect">
            <a:avLst>
              <a:gd name="adj" fmla="val 2740"/>
            </a:avLst>
          </a:prstGeom>
          <a:solidFill>
            <a:srgbClr val="1E2761"/>
          </a:solidFill>
          <a:ln w="12700">
            <a:solidFill>
              <a:srgbClr val="1E2761"/>
            </a:solidFill>
            <a:prstDash val="solid"/>
          </a:ln>
        </p:spPr>
      </p:sp>
      <p:sp>
        <p:nvSpPr>
          <p:cNvPr id="26" name="Shape 21"/>
          <p:cNvSpPr/>
          <p:nvPr/>
        </p:nvSpPr>
        <p:spPr>
          <a:xfrm>
            <a:off x="9226296" y="1783080"/>
            <a:ext cx="411480" cy="411480"/>
          </a:xfrm>
          <a:prstGeom prst="ellipse">
            <a:avLst/>
          </a:prstGeom>
          <a:solidFill>
            <a:srgbClr val="E8A33D"/>
          </a:solidFill>
          <a:ln w="12700">
            <a:solidFill>
              <a:srgbClr val="E8A33D"/>
            </a:solidFill>
            <a:prstDash val="solid"/>
          </a:ln>
        </p:spPr>
      </p:sp>
      <p:sp>
        <p:nvSpPr>
          <p:cNvPr id="27" name="Text 22"/>
          <p:cNvSpPr txBox="1"/>
          <p:nvPr/>
        </p:nvSpPr>
        <p:spPr>
          <a:xfrm>
            <a:off x="9226296" y="1783080"/>
            <a:ext cx="411480" cy="411480"/>
          </a:xfrm>
          <a:prstGeom prst="rect">
            <a:avLst/>
          </a:prstGeom>
          <a:noFill/>
          <a:ln/>
        </p:spPr>
        <p:txBody>
          <a:bodyPr wrap="square" lIns="0" tIns="0" rIns="0" bIns="0" rtlCol="0" anchor="ctr"/>
          <a:lstStyle/>
          <a:p>
            <a:pPr algn="ctr" indent="0" marL="0">
              <a:buNone/>
            </a:pPr>
            <a:r>
              <a:rPr lang="en-US" sz="1400" b="1" dirty="0">
                <a:solidFill>
                  <a:srgbClr val="1E2761"/>
                </a:solidFill>
              </a:rPr>
              <a:t>4</a:t>
            </a:r>
            <a:endParaRPr lang="en-US" sz="1400" dirty="0"/>
          </a:p>
        </p:txBody>
      </p:sp>
      <p:sp>
        <p:nvSpPr>
          <p:cNvPr id="28" name="Text 23"/>
          <p:cNvSpPr txBox="1"/>
          <p:nvPr/>
        </p:nvSpPr>
        <p:spPr>
          <a:xfrm>
            <a:off x="9774936" y="1783080"/>
            <a:ext cx="1737360" cy="411480"/>
          </a:xfrm>
          <a:prstGeom prst="rect">
            <a:avLst/>
          </a:prstGeom>
          <a:noFill/>
          <a:ln/>
        </p:spPr>
        <p:txBody>
          <a:bodyPr wrap="square" lIns="0" tIns="0" rIns="0" bIns="0" rtlCol="0" anchor="ctr"/>
          <a:lstStyle/>
          <a:p>
            <a:pPr indent="0" marL="0">
              <a:buNone/>
            </a:pPr>
            <a:r>
              <a:rPr lang="en-US" sz="1200" b="1" dirty="0">
                <a:solidFill>
                  <a:srgbClr val="E8A33D"/>
                </a:solidFill>
              </a:rPr>
              <a:t>From Jan 12</a:t>
            </a:r>
            <a:endParaRPr lang="en-US" sz="1200" dirty="0"/>
          </a:p>
        </p:txBody>
      </p:sp>
      <p:sp>
        <p:nvSpPr>
          <p:cNvPr id="29" name="Text 24"/>
          <p:cNvSpPr txBox="1"/>
          <p:nvPr/>
        </p:nvSpPr>
        <p:spPr>
          <a:xfrm>
            <a:off x="9226296" y="2377440"/>
            <a:ext cx="2286000" cy="68580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Leader rolls out</a:t>
            </a:r>
            <a:endParaRPr lang="en-US" sz="1600" dirty="0"/>
          </a:p>
        </p:txBody>
      </p:sp>
      <p:sp>
        <p:nvSpPr>
          <p:cNvPr id="30" name="Text 25"/>
          <p:cNvSpPr txBox="1"/>
          <p:nvPr/>
        </p:nvSpPr>
        <p:spPr>
          <a:xfrm>
            <a:off x="9226296" y="3108960"/>
            <a:ext cx="2286000" cy="1965960"/>
          </a:xfrm>
          <a:prstGeom prst="rect">
            <a:avLst/>
          </a:prstGeom>
          <a:noFill/>
          <a:ln/>
        </p:spPr>
        <p:txBody>
          <a:bodyPr wrap="square" lIns="0" tIns="0" rIns="0" bIns="0" rtlCol="0" anchor="t"/>
          <a:lstStyle/>
          <a:p>
            <a:pPr indent="0" marL="0">
              <a:buNone/>
            </a:pPr>
            <a:r>
              <a:rPr lang="en-US" sz="1200" dirty="0">
                <a:solidFill>
                  <a:srgbClr val="CADCFC"/>
                </a:solidFill>
              </a:rPr>
              <a:t>Owners set up their own recons. We fix what the loop sends us and ship it back into the platform.</a:t>
            </a:r>
            <a:endParaRPr lang="en-US" sz="1200" dirty="0"/>
          </a:p>
        </p:txBody>
      </p:sp>
      <p:sp>
        <p:nvSpPr>
          <p:cNvPr id="31" name="Text 26"/>
          <p:cNvSpPr txBox="1"/>
          <p:nvPr/>
        </p:nvSpPr>
        <p:spPr>
          <a:xfrm>
            <a:off x="548640" y="5440680"/>
            <a:ext cx="11064240" cy="457200"/>
          </a:xfrm>
          <a:prstGeom prst="rect">
            <a:avLst/>
          </a:prstGeom>
          <a:noFill/>
          <a:ln/>
        </p:spPr>
        <p:txBody>
          <a:bodyPr wrap="square" lIns="0" tIns="0" rIns="0" bIns="0" rtlCol="0" anchor="ctr"/>
          <a:lstStyle/>
          <a:p>
            <a:pPr indent="0" marL="0">
              <a:buNone/>
            </a:pPr>
            <a:r>
              <a:rPr lang="en-US" sz="1200" i="1" dirty="0">
                <a:solidFill>
                  <a:srgbClr val="5B6472"/>
                </a:solidFill>
              </a:rPr>
              <a:t>The blockers don't change with the strategy. Fed daily data, a production environment and rotating the exposed keys are still on the critical path (slide 8).</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HOW THE PLATFORM GETS SMARTER</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wrong result Leader flags makes the next recon better</a:t>
            </a:r>
            <a:endParaRPr lang="en-US" sz="3000" dirty="0"/>
          </a:p>
        </p:txBody>
      </p:sp>
      <p:sp>
        <p:nvSpPr>
          <p:cNvPr id="4" name="flag"/>
          <p:cNvSpPr/>
          <p:nvPr/>
        </p:nvSpPr>
        <p:spPr>
          <a:xfrm>
            <a:off x="548640" y="1737360"/>
            <a:ext cx="2377440" cy="1920240"/>
          </a:xfrm>
          <a:prstGeom prst="roundRect">
            <a:avLst>
              <a:gd name="adj" fmla="val 3810"/>
            </a:avLst>
          </a:prstGeom>
          <a:solidFill>
            <a:srgbClr val="1E2761"/>
          </a:solidFill>
          <a:ln w="12700">
            <a:solidFill>
              <a:srgbClr val="1E2761"/>
            </a:solidFill>
            <a:prstDash val="solid"/>
          </a:ln>
        </p:spPr>
      </p:sp>
      <p:sp>
        <p:nvSpPr>
          <p:cNvPr id="5" name="Shape 3"/>
          <p:cNvSpPr/>
          <p:nvPr/>
        </p:nvSpPr>
        <p:spPr>
          <a:xfrm>
            <a:off x="777240" y="1920240"/>
            <a:ext cx="411480" cy="411480"/>
          </a:xfrm>
          <a:prstGeom prst="ellipse">
            <a:avLst/>
          </a:prstGeom>
          <a:solidFill>
            <a:srgbClr val="E8A33D"/>
          </a:solidFill>
          <a:ln w="12700">
            <a:solidFill>
              <a:srgbClr val="E8A33D"/>
            </a:solidFill>
            <a:prstDash val="solid"/>
          </a:ln>
        </p:spPr>
      </p:sp>
      <p:pic>
        <p:nvPicPr>
          <p:cNvPr id="6" name="Image 0" descr="preencoded.png">    </p:cNvPr>
          <p:cNvPicPr>
            <a:picLocks noChangeAspect="1"/>
          </p:cNvPicPr>
          <p:nvPr/>
        </p:nvPicPr>
        <p:blipFill>
          <a:blip r:embed="rId1"/>
          <a:stretch>
            <a:fillRect/>
          </a:stretch>
        </p:blipFill>
        <p:spPr>
          <a:xfrm>
            <a:off x="859536" y="2002536"/>
            <a:ext cx="246888" cy="246888"/>
          </a:xfrm>
          <a:prstGeom prst="rect">
            <a:avLst/>
          </a:prstGeom>
        </p:spPr>
      </p:pic>
      <p:sp>
        <p:nvSpPr>
          <p:cNvPr id="7" name="Text 4"/>
          <p:cNvSpPr txBox="1"/>
          <p:nvPr/>
        </p:nvSpPr>
        <p:spPr>
          <a:xfrm>
            <a:off x="777240" y="2468880"/>
            <a:ext cx="201168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Leader flags a result</a:t>
            </a:r>
            <a:endParaRPr lang="en-US" sz="1500" dirty="0"/>
          </a:p>
        </p:txBody>
      </p:sp>
      <p:sp>
        <p:nvSpPr>
          <p:cNvPr id="8" name="Text 5"/>
          <p:cNvSpPr txBox="1"/>
          <p:nvPr/>
        </p:nvSpPr>
        <p:spPr>
          <a:xfrm>
            <a:off x="777240" y="2834640"/>
            <a:ext cx="2011680" cy="731520"/>
          </a:xfrm>
          <a:prstGeom prst="rect">
            <a:avLst/>
          </a:prstGeom>
          <a:noFill/>
          <a:ln/>
        </p:spPr>
        <p:txBody>
          <a:bodyPr wrap="square" lIns="0" tIns="0" rIns="0" bIns="0" rtlCol="0" anchor="t"/>
          <a:lstStyle/>
          <a:p>
            <a:pPr indent="0" marL="0">
              <a:buNone/>
            </a:pPr>
            <a:r>
              <a:rPr lang="en-US" sz="1100" dirty="0">
                <a:solidFill>
                  <a:srgbClr val="CADCFC"/>
                </a:solidFill>
              </a:rPr>
              <a:t>"This result is wrong" on any recon, with a note and the file.</a:t>
            </a:r>
            <a:endParaRPr lang="en-US" sz="1100" dirty="0"/>
          </a:p>
        </p:txBody>
      </p:sp>
      <p:pic>
        <p:nvPicPr>
          <p:cNvPr id="9" name="Image 1" descr="preencoded.png">    </p:cNvPr>
          <p:cNvPicPr>
            <a:picLocks noChangeAspect="1"/>
          </p:cNvPicPr>
          <p:nvPr/>
        </p:nvPicPr>
        <p:blipFill>
          <a:blip r:embed="rId2"/>
          <a:stretch>
            <a:fillRect/>
          </a:stretch>
        </p:blipFill>
        <p:spPr>
          <a:xfrm>
            <a:off x="3035808" y="2560320"/>
            <a:ext cx="329184" cy="329184"/>
          </a:xfrm>
          <a:prstGeom prst="rect">
            <a:avLst/>
          </a:prstGeom>
        </p:spPr>
      </p:pic>
      <p:sp>
        <p:nvSpPr>
          <p:cNvPr id="10" name="card"/>
          <p:cNvSpPr/>
          <p:nvPr/>
        </p:nvSpPr>
        <p:spPr>
          <a:xfrm>
            <a:off x="3474720" y="1737360"/>
            <a:ext cx="2377440" cy="1920240"/>
          </a:xfrm>
          <a:prstGeom prst="roundRect">
            <a:avLst>
              <a:gd name="adj" fmla="val 3810"/>
            </a:avLst>
          </a:prstGeom>
          <a:solidFill>
            <a:srgbClr val="F4F7FC"/>
          </a:solidFill>
          <a:ln w="12700">
            <a:solidFill>
              <a:srgbClr val="F4F7FC"/>
            </a:solidFill>
            <a:prstDash val="solid"/>
          </a:ln>
        </p:spPr>
      </p:sp>
      <p:sp>
        <p:nvSpPr>
          <p:cNvPr id="11" name="Shape 7"/>
          <p:cNvSpPr/>
          <p:nvPr/>
        </p:nvSpPr>
        <p:spPr>
          <a:xfrm>
            <a:off x="3703320" y="1920240"/>
            <a:ext cx="411480" cy="411480"/>
          </a:xfrm>
          <a:prstGeom prst="ellipse">
            <a:avLst/>
          </a:prstGeom>
          <a:solidFill>
            <a:srgbClr val="1E2761"/>
          </a:solidFill>
          <a:ln w="12700">
            <a:solidFill>
              <a:srgbClr val="1E2761"/>
            </a:solidFill>
            <a:prstDash val="solid"/>
          </a:ln>
        </p:spPr>
      </p:sp>
      <p:pic>
        <p:nvPicPr>
          <p:cNvPr id="12" name="Image 2" descr="preencoded.png">    </p:cNvPr>
          <p:cNvPicPr>
            <a:picLocks noChangeAspect="1"/>
          </p:cNvPicPr>
          <p:nvPr/>
        </p:nvPicPr>
        <p:blipFill>
          <a:blip r:embed="rId3"/>
          <a:stretch>
            <a:fillRect/>
          </a:stretch>
        </p:blipFill>
        <p:spPr>
          <a:xfrm>
            <a:off x="3785616" y="2002536"/>
            <a:ext cx="246888" cy="246888"/>
          </a:xfrm>
          <a:prstGeom prst="rect">
            <a:avLst/>
          </a:prstGeom>
        </p:spPr>
      </p:pic>
      <p:sp>
        <p:nvSpPr>
          <p:cNvPr id="13" name="Text 8"/>
          <p:cNvSpPr txBox="1"/>
          <p:nvPr/>
        </p:nvSpPr>
        <p:spPr>
          <a:xfrm>
            <a:off x="3703320" y="2468880"/>
            <a:ext cx="20116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Platform sorts it</a:t>
            </a:r>
            <a:endParaRPr lang="en-US" sz="1500" dirty="0"/>
          </a:p>
        </p:txBody>
      </p:sp>
      <p:sp>
        <p:nvSpPr>
          <p:cNvPr id="14" name="Text 9"/>
          <p:cNvSpPr txBox="1"/>
          <p:nvPr/>
        </p:nvSpPr>
        <p:spPr>
          <a:xfrm>
            <a:off x="3703320" y="2834640"/>
            <a:ext cx="2011680" cy="731520"/>
          </a:xfrm>
          <a:prstGeom prst="rect">
            <a:avLst/>
          </a:prstGeom>
          <a:noFill/>
          <a:ln/>
        </p:spPr>
        <p:txBody>
          <a:bodyPr wrap="square" lIns="0" tIns="0" rIns="0" bIns="0" rtlCol="0" anchor="t"/>
          <a:lstStyle/>
          <a:p>
            <a:pPr indent="0" marL="0">
              <a:buNone/>
            </a:pPr>
            <a:r>
              <a:rPr lang="en-US" sz="1100" dirty="0">
                <a:solidFill>
                  <a:srgbClr val="5B6472"/>
                </a:solidFill>
              </a:rPr>
              <a:t>It suggests a bucket from the evidence; a reviewer confirms it.</a:t>
            </a:r>
            <a:endParaRPr lang="en-US" sz="1100" dirty="0"/>
          </a:p>
        </p:txBody>
      </p:sp>
      <p:pic>
        <p:nvPicPr>
          <p:cNvPr id="15" name="Image 3" descr="preencoded.png">    </p:cNvPr>
          <p:cNvPicPr>
            <a:picLocks noChangeAspect="1"/>
          </p:cNvPicPr>
          <p:nvPr/>
        </p:nvPicPr>
        <p:blipFill>
          <a:blip r:embed="rId4"/>
          <a:stretch>
            <a:fillRect/>
          </a:stretch>
        </p:blipFill>
        <p:spPr>
          <a:xfrm>
            <a:off x="5961888" y="2560320"/>
            <a:ext cx="329184" cy="329184"/>
          </a:xfrm>
          <a:prstGeom prst="rect">
            <a:avLst/>
          </a:prstGeom>
        </p:spPr>
      </p:pic>
      <p:sp>
        <p:nvSpPr>
          <p:cNvPr id="16" name="card"/>
          <p:cNvSpPr/>
          <p:nvPr/>
        </p:nvSpPr>
        <p:spPr>
          <a:xfrm>
            <a:off x="6400800" y="1508760"/>
            <a:ext cx="5212080" cy="914400"/>
          </a:xfrm>
          <a:prstGeom prst="roundRect">
            <a:avLst>
              <a:gd name="adj" fmla="val 8000"/>
            </a:avLst>
          </a:prstGeom>
          <a:solidFill>
            <a:srgbClr val="F4F7FC"/>
          </a:solidFill>
          <a:ln w="12700">
            <a:solidFill>
              <a:srgbClr val="F4F7FC"/>
            </a:solidFill>
            <a:prstDash val="solid"/>
          </a:ln>
        </p:spPr>
      </p:sp>
      <p:sp>
        <p:nvSpPr>
          <p:cNvPr id="17" name="Shape 11"/>
          <p:cNvSpPr/>
          <p:nvPr/>
        </p:nvSpPr>
        <p:spPr>
          <a:xfrm>
            <a:off x="6583680" y="1801368"/>
            <a:ext cx="329184" cy="329184"/>
          </a:xfrm>
          <a:prstGeom prst="ellipse">
            <a:avLst/>
          </a:prstGeom>
          <a:solidFill>
            <a:srgbClr val="2E7D5B"/>
          </a:solidFill>
          <a:ln w="12700">
            <a:solidFill>
              <a:srgbClr val="2E7D5B"/>
            </a:solidFill>
            <a:prstDash val="solid"/>
          </a:ln>
        </p:spPr>
      </p:sp>
      <p:sp>
        <p:nvSpPr>
          <p:cNvPr id="18" name="Text 12"/>
          <p:cNvSpPr txBox="1"/>
          <p:nvPr/>
        </p:nvSpPr>
        <p:spPr>
          <a:xfrm>
            <a:off x="7086600" y="1600200"/>
            <a:ext cx="2926080" cy="320040"/>
          </a:xfrm>
          <a:prstGeom prst="rect">
            <a:avLst/>
          </a:prstGeom>
          <a:noFill/>
          <a:ln/>
        </p:spPr>
        <p:txBody>
          <a:bodyPr wrap="square" lIns="0" tIns="0" rIns="0" bIns="0" rtlCol="0" anchor="ctr"/>
          <a:lstStyle/>
          <a:p>
            <a:pPr indent="0" marL="0">
              <a:buNone/>
            </a:pPr>
            <a:r>
              <a:rPr lang="en-US" sz="1300" b="1" dirty="0">
                <a:solidFill>
                  <a:srgbClr val="1E2761"/>
                </a:solidFill>
              </a:rPr>
              <a:t>Leader's data error</a:t>
            </a:r>
            <a:endParaRPr lang="en-US" sz="1300" dirty="0"/>
          </a:p>
        </p:txBody>
      </p:sp>
      <p:sp>
        <p:nvSpPr>
          <p:cNvPr id="19" name="Text 13"/>
          <p:cNvSpPr txBox="1"/>
          <p:nvPr/>
        </p:nvSpPr>
        <p:spPr>
          <a:xfrm>
            <a:off x="7086600" y="1920240"/>
            <a:ext cx="3291840" cy="457200"/>
          </a:xfrm>
          <a:prstGeom prst="rect">
            <a:avLst/>
          </a:prstGeom>
          <a:noFill/>
          <a:ln/>
        </p:spPr>
        <p:txBody>
          <a:bodyPr wrap="square" lIns="0" tIns="0" rIns="0" bIns="0" rtlCol="0" anchor="t"/>
          <a:lstStyle/>
          <a:p>
            <a:pPr indent="0" marL="0">
              <a:buNone/>
            </a:pPr>
            <a:r>
              <a:rPr lang="en-US" sz="1100" dirty="0">
                <a:solidFill>
                  <a:srgbClr val="5B6472"/>
                </a:solidFill>
              </a:rPr>
              <a:t>Back to the recon owner to correct. Like the 3 breaks so far.</a:t>
            </a:r>
            <a:endParaRPr lang="en-US" sz="1100" dirty="0"/>
          </a:p>
        </p:txBody>
      </p:sp>
      <p:sp>
        <p:nvSpPr>
          <p:cNvPr id="20" name="Text 14"/>
          <p:cNvSpPr txBox="1"/>
          <p:nvPr/>
        </p:nvSpPr>
        <p:spPr>
          <a:xfrm>
            <a:off x="10424160" y="1600200"/>
            <a:ext cx="1051560" cy="320040"/>
          </a:xfrm>
          <a:prstGeom prst="rect">
            <a:avLst/>
          </a:prstGeom>
          <a:noFill/>
          <a:ln/>
        </p:spPr>
        <p:txBody>
          <a:bodyPr wrap="square" lIns="0" tIns="0" rIns="0" bIns="0" rtlCol="0" anchor="ctr"/>
          <a:lstStyle/>
          <a:p>
            <a:pPr algn="r" indent="0" marL="0">
              <a:buNone/>
            </a:pPr>
            <a:r>
              <a:rPr lang="en-US" sz="1100" b="1" dirty="0">
                <a:solidFill>
                  <a:srgbClr val="2E7D5B"/>
                </a:solidFill>
              </a:rPr>
              <a:t>Leader</a:t>
            </a:r>
            <a:endParaRPr lang="en-US" sz="1100" dirty="0"/>
          </a:p>
        </p:txBody>
      </p:sp>
      <p:sp>
        <p:nvSpPr>
          <p:cNvPr id="21" name="card"/>
          <p:cNvSpPr/>
          <p:nvPr/>
        </p:nvSpPr>
        <p:spPr>
          <a:xfrm>
            <a:off x="6400800" y="2532888"/>
            <a:ext cx="5212080" cy="914400"/>
          </a:xfrm>
          <a:prstGeom prst="roundRect">
            <a:avLst>
              <a:gd name="adj" fmla="val 8000"/>
            </a:avLst>
          </a:prstGeom>
          <a:solidFill>
            <a:srgbClr val="F4F7FC"/>
          </a:solidFill>
          <a:ln w="12700">
            <a:solidFill>
              <a:srgbClr val="F4F7FC"/>
            </a:solidFill>
            <a:prstDash val="solid"/>
          </a:ln>
        </p:spPr>
      </p:sp>
      <p:sp>
        <p:nvSpPr>
          <p:cNvPr id="22" name="Shape 16"/>
          <p:cNvSpPr/>
          <p:nvPr/>
        </p:nvSpPr>
        <p:spPr>
          <a:xfrm>
            <a:off x="6583680" y="2825496"/>
            <a:ext cx="329184" cy="329184"/>
          </a:xfrm>
          <a:prstGeom prst="ellipse">
            <a:avLst/>
          </a:prstGeom>
          <a:solidFill>
            <a:srgbClr val="C27C12"/>
          </a:solidFill>
          <a:ln w="12700">
            <a:solidFill>
              <a:srgbClr val="C27C12"/>
            </a:solidFill>
            <a:prstDash val="solid"/>
          </a:ln>
        </p:spPr>
      </p:sp>
      <p:sp>
        <p:nvSpPr>
          <p:cNvPr id="23" name="Text 17"/>
          <p:cNvSpPr txBox="1"/>
          <p:nvPr/>
        </p:nvSpPr>
        <p:spPr>
          <a:xfrm>
            <a:off x="7086600" y="2624328"/>
            <a:ext cx="2926080" cy="320040"/>
          </a:xfrm>
          <a:prstGeom prst="rect">
            <a:avLst/>
          </a:prstGeom>
          <a:noFill/>
          <a:ln/>
        </p:spPr>
        <p:txBody>
          <a:bodyPr wrap="square" lIns="0" tIns="0" rIns="0" bIns="0" rtlCol="0" anchor="ctr"/>
          <a:lstStyle/>
          <a:p>
            <a:pPr indent="0" marL="0">
              <a:buNone/>
            </a:pPr>
            <a:r>
              <a:rPr lang="en-US" sz="1300" b="1" dirty="0">
                <a:solidFill>
                  <a:srgbClr val="1E2761"/>
                </a:solidFill>
              </a:rPr>
              <a:t>Reader gap</a:t>
            </a:r>
            <a:endParaRPr lang="en-US" sz="1300" dirty="0"/>
          </a:p>
        </p:txBody>
      </p:sp>
      <p:sp>
        <p:nvSpPr>
          <p:cNvPr id="24" name="Text 18"/>
          <p:cNvSpPr txBox="1"/>
          <p:nvPr/>
        </p:nvSpPr>
        <p:spPr>
          <a:xfrm>
            <a:off x="7086600" y="2944368"/>
            <a:ext cx="3291840" cy="457200"/>
          </a:xfrm>
          <a:prstGeom prst="rect">
            <a:avLst/>
          </a:prstGeom>
          <a:noFill/>
          <a:ln/>
        </p:spPr>
        <p:txBody>
          <a:bodyPr wrap="square" lIns="0" tIns="0" rIns="0" bIns="0" rtlCol="0" anchor="t"/>
          <a:lstStyle/>
          <a:p>
            <a:pPr indent="0" marL="0">
              <a:buNone/>
            </a:pPr>
            <a:r>
              <a:rPr lang="en-US" sz="1100" dirty="0">
                <a:solidFill>
                  <a:srgbClr val="5B6472"/>
                </a:solidFill>
              </a:rPr>
              <a:t>A file layout we can't read yet. Like 2 of the 4 engine gaps.</a:t>
            </a:r>
            <a:endParaRPr lang="en-US" sz="1100" dirty="0"/>
          </a:p>
        </p:txBody>
      </p:sp>
      <p:sp>
        <p:nvSpPr>
          <p:cNvPr id="25" name="Text 19"/>
          <p:cNvSpPr txBox="1"/>
          <p:nvPr/>
        </p:nvSpPr>
        <p:spPr>
          <a:xfrm>
            <a:off x="10424160" y="2624328"/>
            <a:ext cx="1051560" cy="320040"/>
          </a:xfrm>
          <a:prstGeom prst="rect">
            <a:avLst/>
          </a:prstGeom>
          <a:noFill/>
          <a:ln/>
        </p:spPr>
        <p:txBody>
          <a:bodyPr wrap="square" lIns="0" tIns="0" rIns="0" bIns="0" rtlCol="0" anchor="ctr"/>
          <a:lstStyle/>
          <a:p>
            <a:pPr algn="r" indent="0" marL="0">
              <a:buNone/>
            </a:pPr>
            <a:r>
              <a:rPr lang="en-US" sz="1100" b="1" dirty="0">
                <a:solidFill>
                  <a:srgbClr val="C27C12"/>
                </a:solidFill>
              </a:rPr>
              <a:t>Wolf &amp; Co.</a:t>
            </a:r>
            <a:endParaRPr lang="en-US" sz="1100" dirty="0"/>
          </a:p>
        </p:txBody>
      </p:sp>
      <p:sp>
        <p:nvSpPr>
          <p:cNvPr id="26" name="card"/>
          <p:cNvSpPr/>
          <p:nvPr/>
        </p:nvSpPr>
        <p:spPr>
          <a:xfrm>
            <a:off x="6400800" y="3557016"/>
            <a:ext cx="5212080" cy="914400"/>
          </a:xfrm>
          <a:prstGeom prst="roundRect">
            <a:avLst>
              <a:gd name="adj" fmla="val 8000"/>
            </a:avLst>
          </a:prstGeom>
          <a:solidFill>
            <a:srgbClr val="F4F7FC"/>
          </a:solidFill>
          <a:ln w="12700">
            <a:solidFill>
              <a:srgbClr val="F4F7FC"/>
            </a:solidFill>
            <a:prstDash val="solid"/>
          </a:ln>
        </p:spPr>
      </p:sp>
      <p:sp>
        <p:nvSpPr>
          <p:cNvPr id="27" name="Shape 21"/>
          <p:cNvSpPr/>
          <p:nvPr/>
        </p:nvSpPr>
        <p:spPr>
          <a:xfrm>
            <a:off x="6583680" y="3849624"/>
            <a:ext cx="329184" cy="329184"/>
          </a:xfrm>
          <a:prstGeom prst="ellipse">
            <a:avLst/>
          </a:prstGeom>
          <a:solidFill>
            <a:srgbClr val="C27C12"/>
          </a:solidFill>
          <a:ln w="12700">
            <a:solidFill>
              <a:srgbClr val="C27C12"/>
            </a:solidFill>
            <a:prstDash val="solid"/>
          </a:ln>
        </p:spPr>
      </p:sp>
      <p:sp>
        <p:nvSpPr>
          <p:cNvPr id="28" name="Text 22"/>
          <p:cNvSpPr txBox="1"/>
          <p:nvPr/>
        </p:nvSpPr>
        <p:spPr>
          <a:xfrm>
            <a:off x="7086600" y="3648456"/>
            <a:ext cx="2926080" cy="320040"/>
          </a:xfrm>
          <a:prstGeom prst="rect">
            <a:avLst/>
          </a:prstGeom>
          <a:noFill/>
          <a:ln/>
        </p:spPr>
        <p:txBody>
          <a:bodyPr wrap="square" lIns="0" tIns="0" rIns="0" bIns="0" rtlCol="0" anchor="ctr"/>
          <a:lstStyle/>
          <a:p>
            <a:pPr indent="0" marL="0">
              <a:buNone/>
            </a:pPr>
            <a:r>
              <a:rPr lang="en-US" sz="1300" b="1" dirty="0">
                <a:solidFill>
                  <a:srgbClr val="1E2761"/>
                </a:solidFill>
              </a:rPr>
              <a:t>Rule gap</a:t>
            </a:r>
            <a:endParaRPr lang="en-US" sz="1300" dirty="0"/>
          </a:p>
        </p:txBody>
      </p:sp>
      <p:sp>
        <p:nvSpPr>
          <p:cNvPr id="29" name="Text 23"/>
          <p:cNvSpPr txBox="1"/>
          <p:nvPr/>
        </p:nvSpPr>
        <p:spPr>
          <a:xfrm>
            <a:off x="7086600" y="3968496"/>
            <a:ext cx="3291840" cy="457200"/>
          </a:xfrm>
          <a:prstGeom prst="rect">
            <a:avLst/>
          </a:prstGeom>
          <a:noFill/>
          <a:ln/>
        </p:spPr>
        <p:txBody>
          <a:bodyPr wrap="square" lIns="0" tIns="0" rIns="0" bIns="0" rtlCol="0" anchor="t"/>
          <a:lstStyle/>
          <a:p>
            <a:pPr indent="0" marL="0">
              <a:buNone/>
            </a:pPr>
            <a:r>
              <a:rPr lang="en-US" sz="1100" dirty="0">
                <a:solidFill>
                  <a:srgbClr val="5B6472"/>
                </a:solidFill>
              </a:rPr>
              <a:t>Tolerance, sign or matching logic is wrong for this recon.</a:t>
            </a:r>
            <a:endParaRPr lang="en-US" sz="1100" dirty="0"/>
          </a:p>
        </p:txBody>
      </p:sp>
      <p:sp>
        <p:nvSpPr>
          <p:cNvPr id="30" name="Text 24"/>
          <p:cNvSpPr txBox="1"/>
          <p:nvPr/>
        </p:nvSpPr>
        <p:spPr>
          <a:xfrm>
            <a:off x="10424160" y="3648456"/>
            <a:ext cx="1051560" cy="320040"/>
          </a:xfrm>
          <a:prstGeom prst="rect">
            <a:avLst/>
          </a:prstGeom>
          <a:noFill/>
          <a:ln/>
        </p:spPr>
        <p:txBody>
          <a:bodyPr wrap="square" lIns="0" tIns="0" rIns="0" bIns="0" rtlCol="0" anchor="ctr"/>
          <a:lstStyle/>
          <a:p>
            <a:pPr algn="r" indent="0" marL="0">
              <a:buNone/>
            </a:pPr>
            <a:r>
              <a:rPr lang="en-US" sz="1100" b="1" dirty="0">
                <a:solidFill>
                  <a:srgbClr val="C27C12"/>
                </a:solidFill>
              </a:rPr>
              <a:t>Wolf &amp; Co.</a:t>
            </a:r>
            <a:endParaRPr lang="en-US" sz="1100" dirty="0"/>
          </a:p>
        </p:txBody>
      </p:sp>
      <p:sp>
        <p:nvSpPr>
          <p:cNvPr id="31" name="card"/>
          <p:cNvSpPr/>
          <p:nvPr/>
        </p:nvSpPr>
        <p:spPr>
          <a:xfrm>
            <a:off x="6400800" y="4581144"/>
            <a:ext cx="5212080" cy="914400"/>
          </a:xfrm>
          <a:prstGeom prst="roundRect">
            <a:avLst>
              <a:gd name="adj" fmla="val 8000"/>
            </a:avLst>
          </a:prstGeom>
          <a:solidFill>
            <a:srgbClr val="F4F7FC"/>
          </a:solidFill>
          <a:ln w="12700">
            <a:solidFill>
              <a:srgbClr val="F4F7FC"/>
            </a:solidFill>
            <a:prstDash val="solid"/>
          </a:ln>
        </p:spPr>
      </p:sp>
      <p:sp>
        <p:nvSpPr>
          <p:cNvPr id="32" name="Shape 26"/>
          <p:cNvSpPr/>
          <p:nvPr/>
        </p:nvSpPr>
        <p:spPr>
          <a:xfrm>
            <a:off x="6583680" y="4873752"/>
            <a:ext cx="329184" cy="329184"/>
          </a:xfrm>
          <a:prstGeom prst="ellipse">
            <a:avLst/>
          </a:prstGeom>
          <a:solidFill>
            <a:srgbClr val="B3412E"/>
          </a:solidFill>
          <a:ln w="12700">
            <a:solidFill>
              <a:srgbClr val="B3412E"/>
            </a:solidFill>
            <a:prstDash val="solid"/>
          </a:ln>
        </p:spPr>
      </p:sp>
      <p:sp>
        <p:nvSpPr>
          <p:cNvPr id="33" name="Text 27"/>
          <p:cNvSpPr txBox="1"/>
          <p:nvPr/>
        </p:nvSpPr>
        <p:spPr>
          <a:xfrm>
            <a:off x="7086600" y="4672584"/>
            <a:ext cx="2926080" cy="320040"/>
          </a:xfrm>
          <a:prstGeom prst="rect">
            <a:avLst/>
          </a:prstGeom>
          <a:noFill/>
          <a:ln/>
        </p:spPr>
        <p:txBody>
          <a:bodyPr wrap="square" lIns="0" tIns="0" rIns="0" bIns="0" rtlCol="0" anchor="ctr"/>
          <a:lstStyle/>
          <a:p>
            <a:pPr indent="0" marL="0">
              <a:buNone/>
            </a:pPr>
            <a:r>
              <a:rPr lang="en-US" sz="1300" b="1" dirty="0">
                <a:solidFill>
                  <a:srgbClr val="1E2761"/>
                </a:solidFill>
              </a:rPr>
              <a:t>New type</a:t>
            </a:r>
            <a:endParaRPr lang="en-US" sz="1300" dirty="0"/>
          </a:p>
        </p:txBody>
      </p:sp>
      <p:sp>
        <p:nvSpPr>
          <p:cNvPr id="34" name="Text 28"/>
          <p:cNvSpPr txBox="1"/>
          <p:nvPr/>
        </p:nvSpPr>
        <p:spPr>
          <a:xfrm>
            <a:off x="7086600" y="4992624"/>
            <a:ext cx="3291840" cy="457200"/>
          </a:xfrm>
          <a:prstGeom prst="rect">
            <a:avLst/>
          </a:prstGeom>
          <a:noFill/>
          <a:ln/>
        </p:spPr>
        <p:txBody>
          <a:bodyPr wrap="square" lIns="0" tIns="0" rIns="0" bIns="0" rtlCol="0" anchor="t"/>
          <a:lstStyle/>
          <a:p>
            <a:pPr indent="0" marL="0">
              <a:buNone/>
            </a:pPr>
            <a:r>
              <a:rPr lang="en-US" sz="1100" dirty="0">
                <a:solidFill>
                  <a:srgbClr val="5B6472"/>
                </a:solidFill>
              </a:rPr>
              <a:t>Doesn't fit any of the 24. Added to the library.</a:t>
            </a:r>
            <a:endParaRPr lang="en-US" sz="1100" dirty="0"/>
          </a:p>
        </p:txBody>
      </p:sp>
      <p:sp>
        <p:nvSpPr>
          <p:cNvPr id="35" name="Text 29"/>
          <p:cNvSpPr txBox="1"/>
          <p:nvPr/>
        </p:nvSpPr>
        <p:spPr>
          <a:xfrm>
            <a:off x="10424160" y="4672584"/>
            <a:ext cx="1051560" cy="320040"/>
          </a:xfrm>
          <a:prstGeom prst="rect">
            <a:avLst/>
          </a:prstGeom>
          <a:noFill/>
          <a:ln/>
        </p:spPr>
        <p:txBody>
          <a:bodyPr wrap="square" lIns="0" tIns="0" rIns="0" bIns="0" rtlCol="0" anchor="ctr"/>
          <a:lstStyle/>
          <a:p>
            <a:pPr algn="r" indent="0" marL="0">
              <a:buNone/>
            </a:pPr>
            <a:r>
              <a:rPr lang="en-US" sz="1100" b="1" dirty="0">
                <a:solidFill>
                  <a:srgbClr val="B3412E"/>
                </a:solidFill>
              </a:rPr>
              <a:t>Wolf &amp; Co.</a:t>
            </a:r>
            <a:endParaRPr lang="en-US" sz="1100" dirty="0"/>
          </a:p>
        </p:txBody>
      </p:sp>
      <p:sp>
        <p:nvSpPr>
          <p:cNvPr id="36" name="card"/>
          <p:cNvSpPr/>
          <p:nvPr/>
        </p:nvSpPr>
        <p:spPr>
          <a:xfrm>
            <a:off x="548640" y="3931920"/>
            <a:ext cx="5303520" cy="1691640"/>
          </a:xfrm>
          <a:prstGeom prst="roundRect">
            <a:avLst>
              <a:gd name="adj" fmla="val 4324"/>
            </a:avLst>
          </a:prstGeom>
          <a:solidFill>
            <a:srgbClr val="F4F7FC"/>
          </a:solidFill>
          <a:ln w="12700">
            <a:solidFill>
              <a:srgbClr val="F4F7FC"/>
            </a:solidFill>
            <a:prstDash val="solid"/>
          </a:ln>
        </p:spPr>
      </p:sp>
      <p:sp>
        <p:nvSpPr>
          <p:cNvPr id="37" name="Shape 31"/>
          <p:cNvSpPr/>
          <p:nvPr/>
        </p:nvSpPr>
        <p:spPr>
          <a:xfrm>
            <a:off x="777240" y="4114800"/>
            <a:ext cx="411480" cy="411480"/>
          </a:xfrm>
          <a:prstGeom prst="ellipse">
            <a:avLst/>
          </a:prstGeom>
          <a:solidFill>
            <a:srgbClr val="1E2761"/>
          </a:solidFill>
          <a:ln w="12700">
            <a:solidFill>
              <a:srgbClr val="1E2761"/>
            </a:solidFill>
            <a:prstDash val="solid"/>
          </a:ln>
        </p:spPr>
      </p:sp>
      <p:pic>
        <p:nvPicPr>
          <p:cNvPr id="38" name="Image 4" descr="preencoded.png">    </p:cNvPr>
          <p:cNvPicPr>
            <a:picLocks noChangeAspect="1"/>
          </p:cNvPicPr>
          <p:nvPr/>
        </p:nvPicPr>
        <p:blipFill>
          <a:blip r:embed="rId5"/>
          <a:stretch>
            <a:fillRect/>
          </a:stretch>
        </p:blipFill>
        <p:spPr>
          <a:xfrm>
            <a:off x="859536" y="4197096"/>
            <a:ext cx="246888" cy="246888"/>
          </a:xfrm>
          <a:prstGeom prst="rect">
            <a:avLst/>
          </a:prstGeom>
        </p:spPr>
      </p:pic>
      <p:sp>
        <p:nvSpPr>
          <p:cNvPr id="39" name="Text 32"/>
          <p:cNvSpPr txBox="1"/>
          <p:nvPr/>
        </p:nvSpPr>
        <p:spPr>
          <a:xfrm>
            <a:off x="1371600" y="4114800"/>
            <a:ext cx="4297680" cy="41148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Fixes ship to every recon of that type</a:t>
            </a:r>
            <a:endParaRPr lang="en-US" sz="1400" dirty="0"/>
          </a:p>
        </p:txBody>
      </p:sp>
      <p:sp>
        <p:nvSpPr>
          <p:cNvPr id="40" name="Text 33"/>
          <p:cNvSpPr txBox="1"/>
          <p:nvPr/>
        </p:nvSpPr>
        <p:spPr>
          <a:xfrm>
            <a:off x="777240" y="4617720"/>
            <a:ext cx="4892040" cy="914400"/>
          </a:xfrm>
          <a:prstGeom prst="rect">
            <a:avLst/>
          </a:prstGeom>
          <a:noFill/>
          <a:ln/>
        </p:spPr>
        <p:txBody>
          <a:bodyPr wrap="square" lIns="0" tIns="0" rIns="0" bIns="0" rtlCol="0" anchor="t"/>
          <a:lstStyle/>
          <a:p>
            <a:pPr indent="0" marL="0">
              <a:buNone/>
            </a:pPr>
            <a:r>
              <a:rPr lang="en-US" sz="1200" dirty="0">
                <a:solidFill>
                  <a:srgbClr val="5B6472"/>
                </a:solidFill>
              </a:rPr>
              <a:t>A reader or rule fix is tested against every tied recon of that type before release, then the flagged recon re-runs. One report improves every recon of that type, not just one.</a:t>
            </a:r>
            <a:endParaRPr lang="en-US" sz="1200" dirty="0"/>
          </a:p>
        </p:txBody>
      </p:sp>
      <p:sp>
        <p:nvSpPr>
          <p:cNvPr id="41" name="Text 34"/>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200" i="1" dirty="0">
                <a:solidFill>
                  <a:srgbClr val="5B6472"/>
                </a:solidFill>
              </a:rPr>
              <a:t>Only the last three buckets cost us time. The share of flags that are Leader's own data errors is the measure of how mature the platform is.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WHAT FEEDBACK WON'T CATCH</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Guardrails that make this safe for a bank</a:t>
            </a:r>
            <a:endParaRPr lang="en-US" sz="3000" dirty="0"/>
          </a:p>
        </p:txBody>
      </p:sp>
      <p:sp>
        <p:nvSpPr>
          <p:cNvPr id="4" name="card"/>
          <p:cNvSpPr/>
          <p:nvPr/>
        </p:nvSpPr>
        <p:spPr>
          <a:xfrm>
            <a:off x="548640" y="1508760"/>
            <a:ext cx="5486400" cy="2194560"/>
          </a:xfrm>
          <a:prstGeom prst="roundRect">
            <a:avLst>
              <a:gd name="adj" fmla="val 3333"/>
            </a:avLst>
          </a:prstGeom>
          <a:solidFill>
            <a:srgbClr val="F4F7FC"/>
          </a:solidFill>
          <a:ln w="12700">
            <a:solidFill>
              <a:srgbClr val="F4F7FC"/>
            </a:solidFill>
            <a:prstDash val="solid"/>
          </a:ln>
        </p:spPr>
      </p:sp>
      <p:sp>
        <p:nvSpPr>
          <p:cNvPr id="5" name="Shape 3"/>
          <p:cNvSpPr/>
          <p:nvPr/>
        </p:nvSpPr>
        <p:spPr>
          <a:xfrm>
            <a:off x="777240" y="1737360"/>
            <a:ext cx="411480" cy="411480"/>
          </a:xfrm>
          <a:prstGeom prst="ellipse">
            <a:avLst/>
          </a:prstGeom>
          <a:solidFill>
            <a:srgbClr val="B3412E"/>
          </a:solidFill>
          <a:ln w="12700">
            <a:solidFill>
              <a:srgbClr val="B3412E"/>
            </a:solidFill>
            <a:prstDash val="solid"/>
          </a:ln>
        </p:spPr>
      </p:sp>
      <p:pic>
        <p:nvPicPr>
          <p:cNvPr id="6" name="Image 0" descr="preencoded.png">    </p:cNvPr>
          <p:cNvPicPr>
            <a:picLocks noChangeAspect="1"/>
          </p:cNvPicPr>
          <p:nvPr/>
        </p:nvPicPr>
        <p:blipFill>
          <a:blip r:embed="rId1"/>
          <a:stretch>
            <a:fillRect/>
          </a:stretch>
        </p:blipFill>
        <p:spPr>
          <a:xfrm>
            <a:off x="859536" y="1819656"/>
            <a:ext cx="246888" cy="246888"/>
          </a:xfrm>
          <a:prstGeom prst="rect">
            <a:avLst/>
          </a:prstGeom>
        </p:spPr>
      </p:pic>
      <p:sp>
        <p:nvSpPr>
          <p:cNvPr id="7" name="Text 4"/>
          <p:cNvSpPr txBox="1"/>
          <p:nvPr/>
        </p:nvSpPr>
        <p:spPr>
          <a:xfrm>
            <a:off x="1371600" y="173736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False ties are silent</a:t>
            </a:r>
            <a:endParaRPr lang="en-US" sz="1500" dirty="0"/>
          </a:p>
        </p:txBody>
      </p:sp>
      <p:sp>
        <p:nvSpPr>
          <p:cNvPr id="8" name="Text 5"/>
          <p:cNvSpPr txBox="1"/>
          <p:nvPr/>
        </p:nvSpPr>
        <p:spPr>
          <a:xfrm>
            <a:off x="777240" y="2286000"/>
            <a:ext cx="5029200" cy="1325880"/>
          </a:xfrm>
          <a:prstGeom prst="rect">
            <a:avLst/>
          </a:prstGeom>
          <a:noFill/>
          <a:ln/>
        </p:spPr>
        <p:txBody>
          <a:bodyPr wrap="square" lIns="0" tIns="0" rIns="0" bIns="0" rtlCol="0" anchor="t"/>
          <a:lstStyle/>
          <a:p>
            <a:pPr indent="0" marL="0">
              <a:spcAft>
                <a:spcPts val="600"/>
              </a:spcAft>
              <a:buNone/>
            </a:pPr>
            <a:r>
              <a:rPr lang="en-US" sz="1200" dirty="0">
                <a:solidFill>
                  <a:srgbClr val="5B6472"/>
                </a:solidFill>
              </a:rPr>
              <a:t>Leader will report a false break because someone sees it. Nobody reports a recon that wrongly ties.</a:t>
            </a:r>
            <a:endParaRPr lang="en-US" sz="1200" dirty="0"/>
          </a:p>
          <a:p>
            <a:pPr indent="0" marL="0">
              <a:buNone/>
            </a:pPr>
            <a:r>
              <a:rPr lang="en-US" sz="1200" b="1" dirty="0">
                <a:solidFill>
                  <a:srgbClr val="1B1F3B"/>
                </a:solidFill>
              </a:rPr>
              <a:t>Guardrail: </a:t>
            </a:r>
            <a:pPr indent="0" marL="0">
              <a:buNone/>
            </a:pPr>
            <a:r>
              <a:rPr lang="en-US" sz="1200" dirty="0">
                <a:solidFill>
                  <a:srgbClr val="1B1F3B"/>
                </a:solidFill>
              </a:rPr>
              <a:t>Every recon ties to the preparer's signed figure over at least two periods before it goes live, and is spot-checked after.</a:t>
            </a:r>
            <a:endParaRPr lang="en-US" sz="1200" dirty="0"/>
          </a:p>
        </p:txBody>
      </p:sp>
      <p:sp>
        <p:nvSpPr>
          <p:cNvPr id="9" name="card"/>
          <p:cNvSpPr/>
          <p:nvPr/>
        </p:nvSpPr>
        <p:spPr>
          <a:xfrm>
            <a:off x="6126480" y="1508760"/>
            <a:ext cx="5486400" cy="2194560"/>
          </a:xfrm>
          <a:prstGeom prst="roundRect">
            <a:avLst>
              <a:gd name="adj" fmla="val 3333"/>
            </a:avLst>
          </a:prstGeom>
          <a:solidFill>
            <a:srgbClr val="F4F7FC"/>
          </a:solidFill>
          <a:ln w="12700">
            <a:solidFill>
              <a:srgbClr val="F4F7FC"/>
            </a:solidFill>
            <a:prstDash val="solid"/>
          </a:ln>
        </p:spPr>
      </p:sp>
      <p:sp>
        <p:nvSpPr>
          <p:cNvPr id="10" name="Shape 7"/>
          <p:cNvSpPr/>
          <p:nvPr/>
        </p:nvSpPr>
        <p:spPr>
          <a:xfrm>
            <a:off x="6355080" y="1737360"/>
            <a:ext cx="411480" cy="411480"/>
          </a:xfrm>
          <a:prstGeom prst="ellipse">
            <a:avLst/>
          </a:prstGeom>
          <a:solidFill>
            <a:srgbClr val="C27C12"/>
          </a:solidFill>
          <a:ln w="12700">
            <a:solidFill>
              <a:srgbClr val="C27C12"/>
            </a:solidFill>
            <a:prstDash val="solid"/>
          </a:ln>
        </p:spPr>
      </p:sp>
      <p:pic>
        <p:nvPicPr>
          <p:cNvPr id="11" name="Image 1" descr="preencoded.png">    </p:cNvPr>
          <p:cNvPicPr>
            <a:picLocks noChangeAspect="1"/>
          </p:cNvPicPr>
          <p:nvPr/>
        </p:nvPicPr>
        <p:blipFill>
          <a:blip r:embed="rId2"/>
          <a:stretch>
            <a:fillRect/>
          </a:stretch>
        </p:blipFill>
        <p:spPr>
          <a:xfrm>
            <a:off x="6437376" y="1819656"/>
            <a:ext cx="246888" cy="246888"/>
          </a:xfrm>
          <a:prstGeom prst="rect">
            <a:avLst/>
          </a:prstGeom>
        </p:spPr>
      </p:pic>
      <p:sp>
        <p:nvSpPr>
          <p:cNvPr id="12" name="Text 8"/>
          <p:cNvSpPr txBox="1"/>
          <p:nvPr/>
        </p:nvSpPr>
        <p:spPr>
          <a:xfrm>
            <a:off x="6949440" y="173736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Setup may not be point-and-click</a:t>
            </a:r>
            <a:endParaRPr lang="en-US" sz="1500" dirty="0"/>
          </a:p>
        </p:txBody>
      </p:sp>
      <p:sp>
        <p:nvSpPr>
          <p:cNvPr id="13" name="Text 9"/>
          <p:cNvSpPr txBox="1"/>
          <p:nvPr/>
        </p:nvSpPr>
        <p:spPr>
          <a:xfrm>
            <a:off x="6355080" y="2286000"/>
            <a:ext cx="5029200" cy="1325880"/>
          </a:xfrm>
          <a:prstGeom prst="rect">
            <a:avLst/>
          </a:prstGeom>
          <a:noFill/>
          <a:ln/>
        </p:spPr>
        <p:txBody>
          <a:bodyPr wrap="square" lIns="0" tIns="0" rIns="0" bIns="0" rtlCol="0" anchor="t"/>
          <a:lstStyle/>
          <a:p>
            <a:pPr indent="0" marL="0">
              <a:spcAft>
                <a:spcPts val="600"/>
              </a:spcAft>
              <a:buNone/>
            </a:pPr>
            <a:r>
              <a:rPr lang="en-US" sz="1200" dirty="0">
                <a:solidFill>
                  <a:srgbClr val="5B6472"/>
                </a:solidFill>
              </a:rPr>
              <a:t>Two of the four engine gaps came from new file layouts. If exports vary by recon, those come back to us.</a:t>
            </a:r>
            <a:endParaRPr lang="en-US" sz="1200" dirty="0"/>
          </a:p>
          <a:p>
            <a:pPr indent="0" marL="0">
              <a:buNone/>
            </a:pPr>
            <a:r>
              <a:rPr lang="en-US" sz="1200" b="1" dirty="0">
                <a:solidFill>
                  <a:srgbClr val="1B1F3B"/>
                </a:solidFill>
              </a:rPr>
              <a:t>Guardrail: </a:t>
            </a:r>
            <a:pPr indent="0" marL="0">
              <a:buNone/>
            </a:pPr>
            <a:r>
              <a:rPr lang="en-US" sz="1200" dirty="0">
                <a:solidFill>
                  <a:srgbClr val="1B1F3B"/>
                </a:solidFill>
              </a:rPr>
              <a:t>Have three owners set up recons unaided in December to measure it, before we commit to the January volumes.</a:t>
            </a:r>
            <a:endParaRPr lang="en-US" sz="1200" dirty="0"/>
          </a:p>
        </p:txBody>
      </p:sp>
      <p:sp>
        <p:nvSpPr>
          <p:cNvPr id="14" name="card"/>
          <p:cNvSpPr/>
          <p:nvPr/>
        </p:nvSpPr>
        <p:spPr>
          <a:xfrm>
            <a:off x="548640" y="3840480"/>
            <a:ext cx="5486400" cy="2194560"/>
          </a:xfrm>
          <a:prstGeom prst="roundRect">
            <a:avLst>
              <a:gd name="adj" fmla="val 3333"/>
            </a:avLst>
          </a:prstGeom>
          <a:solidFill>
            <a:srgbClr val="F4F7FC"/>
          </a:solidFill>
          <a:ln w="12700">
            <a:solidFill>
              <a:srgbClr val="F4F7FC"/>
            </a:solidFill>
            <a:prstDash val="solid"/>
          </a:ln>
        </p:spPr>
      </p:sp>
      <p:sp>
        <p:nvSpPr>
          <p:cNvPr id="15" name="Shape 11"/>
          <p:cNvSpPr/>
          <p:nvPr/>
        </p:nvSpPr>
        <p:spPr>
          <a:xfrm>
            <a:off x="777240" y="4069080"/>
            <a:ext cx="411480" cy="411480"/>
          </a:xfrm>
          <a:prstGeom prst="ellipse">
            <a:avLst/>
          </a:prstGeom>
          <a:solidFill>
            <a:srgbClr val="C27C12"/>
          </a:solidFill>
          <a:ln w="12700">
            <a:solidFill>
              <a:srgbClr val="C27C12"/>
            </a:solidFill>
            <a:prstDash val="solid"/>
          </a:ln>
        </p:spPr>
      </p:sp>
      <p:pic>
        <p:nvPicPr>
          <p:cNvPr id="16" name="Image 2" descr="preencoded.png">    </p:cNvPr>
          <p:cNvPicPr>
            <a:picLocks noChangeAspect="1"/>
          </p:cNvPicPr>
          <p:nvPr/>
        </p:nvPicPr>
        <p:blipFill>
          <a:blip r:embed="rId3"/>
          <a:stretch>
            <a:fillRect/>
          </a:stretch>
        </p:blipFill>
        <p:spPr>
          <a:xfrm>
            <a:off x="859536" y="4151376"/>
            <a:ext cx="246888" cy="246888"/>
          </a:xfrm>
          <a:prstGeom prst="rect">
            <a:avLst/>
          </a:prstGeom>
        </p:spPr>
      </p:pic>
      <p:sp>
        <p:nvSpPr>
          <p:cNvPr id="17" name="Text 12"/>
          <p:cNvSpPr txBox="1"/>
          <p:nvPr/>
        </p:nvSpPr>
        <p:spPr>
          <a:xfrm>
            <a:off x="1371600" y="406908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Self-service needs maker-checker</a:t>
            </a:r>
            <a:endParaRPr lang="en-US" sz="1500" dirty="0"/>
          </a:p>
        </p:txBody>
      </p:sp>
      <p:sp>
        <p:nvSpPr>
          <p:cNvPr id="18" name="Text 13"/>
          <p:cNvSpPr txBox="1"/>
          <p:nvPr/>
        </p:nvSpPr>
        <p:spPr>
          <a:xfrm>
            <a:off x="777240" y="4617720"/>
            <a:ext cx="5029200" cy="1325880"/>
          </a:xfrm>
          <a:prstGeom prst="rect">
            <a:avLst/>
          </a:prstGeom>
          <a:noFill/>
          <a:ln/>
        </p:spPr>
        <p:txBody>
          <a:bodyPr wrap="square" lIns="0" tIns="0" rIns="0" bIns="0" rtlCol="0" anchor="t"/>
          <a:lstStyle/>
          <a:p>
            <a:pPr indent="0" marL="0">
              <a:spcAft>
                <a:spcPts val="600"/>
              </a:spcAft>
              <a:buNone/>
            </a:pPr>
            <a:r>
              <a:rPr lang="en-US" sz="1200" dirty="0">
                <a:solidFill>
                  <a:srgbClr val="5B6472"/>
                </a:solidFill>
              </a:rPr>
              <a:t>In a bank, whoever sets up a recon can't also approve it into production.</a:t>
            </a:r>
            <a:endParaRPr lang="en-US" sz="1200" dirty="0"/>
          </a:p>
          <a:p>
            <a:pPr indent="0" marL="0">
              <a:buNone/>
            </a:pPr>
            <a:r>
              <a:rPr lang="en-US" sz="1200" b="1" dirty="0">
                <a:solidFill>
                  <a:srgbClr val="1B1F3B"/>
                </a:solidFill>
              </a:rPr>
              <a:t>Guardrail: </a:t>
            </a:r>
            <a:pPr indent="0" marL="0">
              <a:buNone/>
            </a:pPr>
            <a:r>
              <a:rPr lang="en-US" sz="1200" dirty="0">
                <a:solidFill>
                  <a:srgbClr val="1B1F3B"/>
                </a:solidFill>
              </a:rPr>
              <a:t>Separate roles for setting up and approving, with the audit trail and version history the roadmap already promised.</a:t>
            </a:r>
            <a:endParaRPr lang="en-US" sz="1200" dirty="0"/>
          </a:p>
        </p:txBody>
      </p:sp>
      <p:sp>
        <p:nvSpPr>
          <p:cNvPr id="19" name="card"/>
          <p:cNvSpPr/>
          <p:nvPr/>
        </p:nvSpPr>
        <p:spPr>
          <a:xfrm>
            <a:off x="6126480" y="3840480"/>
            <a:ext cx="5486400" cy="2194560"/>
          </a:xfrm>
          <a:prstGeom prst="roundRect">
            <a:avLst>
              <a:gd name="adj" fmla="val 3333"/>
            </a:avLst>
          </a:prstGeom>
          <a:solidFill>
            <a:srgbClr val="F4F7FC"/>
          </a:solidFill>
          <a:ln w="12700">
            <a:solidFill>
              <a:srgbClr val="F4F7FC"/>
            </a:solidFill>
            <a:prstDash val="solid"/>
          </a:ln>
        </p:spPr>
      </p:sp>
      <p:sp>
        <p:nvSpPr>
          <p:cNvPr id="20" name="Shape 15"/>
          <p:cNvSpPr/>
          <p:nvPr/>
        </p:nvSpPr>
        <p:spPr>
          <a:xfrm>
            <a:off x="6355080" y="4069080"/>
            <a:ext cx="411480" cy="411480"/>
          </a:xfrm>
          <a:prstGeom prst="ellipse">
            <a:avLst/>
          </a:prstGeom>
          <a:solidFill>
            <a:srgbClr val="1E2761"/>
          </a:solidFill>
          <a:ln w="12700">
            <a:solidFill>
              <a:srgbClr val="1E2761"/>
            </a:solidFill>
            <a:prstDash val="solid"/>
          </a:ln>
        </p:spPr>
      </p:sp>
      <p:pic>
        <p:nvPicPr>
          <p:cNvPr id="21" name="Image 3" descr="preencoded.png">    </p:cNvPr>
          <p:cNvPicPr>
            <a:picLocks noChangeAspect="1"/>
          </p:cNvPicPr>
          <p:nvPr/>
        </p:nvPicPr>
        <p:blipFill>
          <a:blip r:embed="rId4"/>
          <a:stretch>
            <a:fillRect/>
          </a:stretch>
        </p:blipFill>
        <p:spPr>
          <a:xfrm>
            <a:off x="6437376" y="4151376"/>
            <a:ext cx="246888" cy="246888"/>
          </a:xfrm>
          <a:prstGeom prst="rect">
            <a:avLst/>
          </a:prstGeom>
        </p:spPr>
      </p:pic>
      <p:sp>
        <p:nvSpPr>
          <p:cNvPr id="22" name="Text 16"/>
          <p:cNvSpPr txBox="1"/>
          <p:nvPr/>
        </p:nvSpPr>
        <p:spPr>
          <a:xfrm>
            <a:off x="6949440" y="406908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The gate stays, as a feature</a:t>
            </a:r>
            <a:endParaRPr lang="en-US" sz="1500" dirty="0"/>
          </a:p>
        </p:txBody>
      </p:sp>
      <p:sp>
        <p:nvSpPr>
          <p:cNvPr id="23" name="Text 17"/>
          <p:cNvSpPr txBox="1"/>
          <p:nvPr/>
        </p:nvSpPr>
        <p:spPr>
          <a:xfrm>
            <a:off x="6355080" y="4617720"/>
            <a:ext cx="5029200" cy="1325880"/>
          </a:xfrm>
          <a:prstGeom prst="rect">
            <a:avLst/>
          </a:prstGeom>
          <a:noFill/>
          <a:ln/>
        </p:spPr>
        <p:txBody>
          <a:bodyPr wrap="square" lIns="0" tIns="0" rIns="0" bIns="0" rtlCol="0" anchor="t"/>
          <a:lstStyle/>
          <a:p>
            <a:pPr indent="0" marL="0">
              <a:spcAft>
                <a:spcPts val="600"/>
              </a:spcAft>
              <a:buNone/>
            </a:pPr>
            <a:r>
              <a:rPr lang="en-US" sz="1200" dirty="0">
                <a:solidFill>
                  <a:srgbClr val="5B6472"/>
                </a:solidFill>
              </a:rPr>
              <a:t>Self-service never means ungoverned. It means the platform enforces the gate, not a meeting.</a:t>
            </a:r>
            <a:endParaRPr lang="en-US" sz="1200" dirty="0"/>
          </a:p>
          <a:p>
            <a:pPr indent="0" marL="0">
              <a:buNone/>
            </a:pPr>
            <a:r>
              <a:rPr lang="en-US" sz="1200" b="1" dirty="0">
                <a:solidFill>
                  <a:srgbClr val="1B1F3B"/>
                </a:solidFill>
              </a:rPr>
              <a:t>Guardrail: </a:t>
            </a:r>
            <a:pPr indent="0" marL="0">
              <a:buNone/>
            </a:pPr>
            <a:r>
              <a:rPr lang="en-US" sz="1200" dirty="0">
                <a:solidFill>
                  <a:srgbClr val="1B1F3B"/>
                </a:solidFill>
              </a:rPr>
              <a:t>The gate is a hard block in the app: back-test ties, every variance labeled, sign-off recorded.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THE NEW LIMIT IS LEADER'S HOURS</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Setup time per recon now decides the end date</a:t>
            </a:r>
            <a:endParaRPr lang="en-US" sz="3000" dirty="0"/>
          </a:p>
        </p:txBody>
      </p:sp>
      <p:graphicFrame>
        <p:nvGraphicFramePr>
          <p:cNvPr id="4" name="Chart 0" descr=""/>
          <p:cNvGraphicFramePr/>
          <p:nvPr/>
        </p:nvGraphicFramePr>
        <p:xfrm>
          <a:off x="548640" y="15087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760720"/>
            <a:ext cx="6035040" cy="320040"/>
          </a:xfrm>
          <a:prstGeom prst="rect">
            <a:avLst/>
          </a:prstGeom>
          <a:noFill/>
          <a:ln/>
        </p:spPr>
        <p:txBody>
          <a:bodyPr wrap="square" lIns="0" tIns="0" rIns="0" bIns="0" rtlCol="0" anchor="ctr"/>
          <a:lstStyle/>
          <a:p>
            <a:pPr indent="0" marL="0">
              <a:buNone/>
            </a:pPr>
            <a:r>
              <a:rPr lang="en-US" sz="1000" i="1" dirty="0">
                <a:solidFill>
                  <a:srgbClr val="5B6472"/>
                </a:solidFill>
              </a:rPr>
              <a:t>600 recons ÷ six owners at 15 hrs/week (90 hrs/week). Excludes uploads and sign-off.</a:t>
            </a:r>
            <a:endParaRPr lang="en-US" sz="1000" dirty="0"/>
          </a:p>
        </p:txBody>
      </p:sp>
      <p:sp>
        <p:nvSpPr>
          <p:cNvPr id="6" name="levers"/>
          <p:cNvSpPr/>
          <p:nvPr/>
        </p:nvSpPr>
        <p:spPr>
          <a:xfrm>
            <a:off x="6858000" y="1508760"/>
            <a:ext cx="4754880" cy="4572000"/>
          </a:xfrm>
          <a:prstGeom prst="roundRect">
            <a:avLst>
              <a:gd name="adj" fmla="val 1600"/>
            </a:avLst>
          </a:prstGeom>
          <a:solidFill>
            <a:srgbClr val="1E2761"/>
          </a:solidFill>
          <a:ln w="12700">
            <a:solidFill>
              <a:srgbClr val="1E2761"/>
            </a:solidFill>
            <a:prstDash val="solid"/>
          </a:ln>
        </p:spPr>
      </p:sp>
      <p:sp>
        <p:nvSpPr>
          <p:cNvPr id="7" name="Shape 4"/>
          <p:cNvSpPr/>
          <p:nvPr/>
        </p:nvSpPr>
        <p:spPr>
          <a:xfrm>
            <a:off x="7132320" y="1737360"/>
            <a:ext cx="411480" cy="411480"/>
          </a:xfrm>
          <a:prstGeom prst="ellipse">
            <a:avLst/>
          </a:prstGeom>
          <a:solidFill>
            <a:srgbClr val="E8A33D"/>
          </a:solidFill>
          <a:ln w="12700">
            <a:solidFill>
              <a:srgbClr val="E8A33D"/>
            </a:solidFill>
            <a:prstDash val="solid"/>
          </a:ln>
        </p:spPr>
      </p:sp>
      <p:pic>
        <p:nvPicPr>
          <p:cNvPr id="8" name="Image 0" descr="preencoded.png">    </p:cNvPr>
          <p:cNvPicPr>
            <a:picLocks noChangeAspect="1"/>
          </p:cNvPicPr>
          <p:nvPr/>
        </p:nvPicPr>
        <p:blipFill>
          <a:blip r:embed="rId2"/>
          <a:stretch>
            <a:fillRect/>
          </a:stretch>
        </p:blipFill>
        <p:spPr>
          <a:xfrm>
            <a:off x="7214616" y="1819656"/>
            <a:ext cx="246888" cy="246888"/>
          </a:xfrm>
          <a:prstGeom prst="rect">
            <a:avLst/>
          </a:prstGeom>
        </p:spPr>
      </p:pic>
      <p:sp>
        <p:nvSpPr>
          <p:cNvPr id="9" name="Text 5"/>
          <p:cNvSpPr txBox="1"/>
          <p:nvPr/>
        </p:nvSpPr>
        <p:spPr>
          <a:xfrm>
            <a:off x="7726680" y="1737360"/>
            <a:ext cx="374904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Product work that cuts setup time</a:t>
            </a:r>
            <a:endParaRPr lang="en-US" sz="1500" dirty="0"/>
          </a:p>
        </p:txBody>
      </p:sp>
      <p:sp>
        <p:nvSpPr>
          <p:cNvPr id="10" name="Text 6"/>
          <p:cNvSpPr txBox="1"/>
          <p:nvPr/>
        </p:nvSpPr>
        <p:spPr>
          <a:xfrm>
            <a:off x="7132320" y="2377440"/>
            <a:ext cx="4297680" cy="2743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rPr>
              <a:t>Suggest field mappings from the uploaded file, so owners confirm rather than map</a:t>
            </a:r>
            <a:endParaRPr lang="en-US" sz="1200" dirty="0"/>
          </a:p>
          <a:p>
            <a:pPr marL="342900" indent="-342900">
              <a:spcAft>
                <a:spcPts val="500"/>
              </a:spcAft>
              <a:buSzPct val="100000"/>
              <a:buChar char="•"/>
            </a:pPr>
            <a:r>
              <a:rPr lang="en-US" sz="1200" dirty="0">
                <a:solidFill>
                  <a:srgbClr val="FFFFFF"/>
                </a:solidFill>
              </a:rPr>
              <a:t>Clone setup from a similar recon (one LIP form covers six GL accounts)</a:t>
            </a:r>
            <a:endParaRPr lang="en-US" sz="1200" dirty="0"/>
          </a:p>
          <a:p>
            <a:pPr marL="342900" indent="-342900">
              <a:spcAft>
                <a:spcPts val="500"/>
              </a:spcAft>
              <a:buSzPct val="100000"/>
              <a:buChar char="•"/>
            </a:pPr>
            <a:r>
              <a:rPr lang="en-US" sz="1200" dirty="0">
                <a:solidFill>
                  <a:srgbClr val="FFFFFF"/>
                </a:solidFill>
              </a:rPr>
              <a:t>A per-month upload checklist, so owners know what's due and what's missing</a:t>
            </a:r>
            <a:endParaRPr lang="en-US" sz="1200" dirty="0"/>
          </a:p>
          <a:p>
            <a:pPr marL="342900" indent="-342900">
              <a:spcAft>
                <a:spcPts val="500"/>
              </a:spcAft>
              <a:buSzPct val="100000"/>
              <a:buChar char="•"/>
            </a:pPr>
            <a:r>
              <a:rPr lang="en-US" sz="1200" dirty="0">
                <a:solidFill>
                  <a:srgbClr val="FFFFFF"/>
                </a:solidFill>
              </a:rPr>
              <a:t>The question layer, so owners get answers in the app instead of from us</a:t>
            </a:r>
            <a:endParaRPr lang="en-US" sz="1200" dirty="0"/>
          </a:p>
          <a:p>
            <a:pPr marL="342900" indent="-342900">
              <a:spcAft>
                <a:spcPts val="500"/>
              </a:spcAft>
              <a:buSzPct val="100000"/>
              <a:buChar char="•"/>
            </a:pPr>
            <a:r>
              <a:rPr lang="en-US" sz="1200" dirty="0">
                <a:solidFill>
                  <a:srgbClr val="FFFFFF"/>
                </a:solidFill>
              </a:rPr>
              <a:t>Measure real setup time from the first recons Leader sets up themselves</a:t>
            </a:r>
            <a:endParaRPr lang="en-US" sz="1200" dirty="0"/>
          </a:p>
        </p:txBody>
      </p:sp>
      <p:sp>
        <p:nvSpPr>
          <p:cNvPr id="11" name="Text 7"/>
          <p:cNvSpPr txBox="1"/>
          <p:nvPr/>
        </p:nvSpPr>
        <p:spPr>
          <a:xfrm>
            <a:off x="7132320" y="5257800"/>
            <a:ext cx="4297680" cy="640080"/>
          </a:xfrm>
          <a:prstGeom prst="rect">
            <a:avLst/>
          </a:prstGeom>
          <a:noFill/>
          <a:ln/>
        </p:spPr>
        <p:txBody>
          <a:bodyPr wrap="square" lIns="0" tIns="0" rIns="0" bIns="0" rtlCol="0" anchor="t"/>
          <a:lstStyle/>
          <a:p>
            <a:pPr indent="0" marL="0">
              <a:buNone/>
            </a:pPr>
            <a:r>
              <a:rPr lang="en-US" sz="1200" b="1" dirty="0">
                <a:solidFill>
                  <a:srgbClr val="E8A33D"/>
                </a:solidFill>
              </a:rPr>
              <a:t>Ask Leader before committing: can all six owners give ~15 hrs/week from January?</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REVISED MILESTONES</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Fewer of our hours, earlier finish</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463040"/>
                <a:gridCol w="8138160"/>
                <a:gridCol w="14630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Milestone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Lead</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1E2761"/>
                    </a:solidFill>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Fri Oct 23</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Rotate the exposed keys. Send Leader the Fed questions and the 3 breaks</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Wolf &amp; Co.</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Fri Oct 30</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≥10 ordinary weekdays of Fed + GL files. Hosting decision. Owners start tagging the 600</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Leader / Wolf</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Fri Nov 6</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Type library complete (24 forms). 600 mapped to types. Production environment up. Steering sign-off</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Mon Nov 23</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Fed live (gate Nov 20). Falls back to Dec 1 if the daily data misses Nov 6</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Fri Dec 4</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Feedback action and in-app gate live. Three owners set up recons unaided, timed</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Wolf &amp; Co.</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Tue Dec 8</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Early release: ~10 monthly recons live after a parallel run on the October close</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Tue Jan 12</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Pilot: Leader sets up their own recons. Floor of 36; size set by upload readiness</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Leader</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75488">
                <a:tc>
                  <a:txBody>
                    <a:bodyPr/>
                    <a:lstStyle/>
                    <a:p>
                      <a:pPr indent="0" marL="0">
                        <a:buNone/>
                      </a:pPr>
                      <a:r>
                        <a:rPr lang="en-US" sz="1200" b="1" dirty="0">
                          <a:solidFill>
                            <a:srgbClr val="1B1F3B"/>
                          </a:solidFill>
                          <a:latin typeface="Calibri" pitchFamily="34" charset="0"/>
                          <a:ea typeface="Calibri" pitchFamily="34" charset="-122"/>
                          <a:cs typeface="Calibri" pitchFamily="34" charset="-120"/>
                        </a:rPr>
                        <a:t>Feb – Mar</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B1F3B"/>
                          </a:solidFill>
                          <a:latin typeface="Calibri" pitchFamily="34" charset="0"/>
                          <a:ea typeface="Calibri" pitchFamily="34" charset="-122"/>
                          <a:cs typeface="Calibri" pitchFamily="34" charset="-120"/>
                        </a:rPr>
                        <a:t>Leader-led rollout; we work the feedback queue. All ~600 in March if setup is ≤1 hr each</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5B6472"/>
                          </a:solidFill>
                          <a:latin typeface="Calibri" pitchFamily="34" charset="0"/>
                          <a:ea typeface="Calibri" pitchFamily="34" charset="-122"/>
                          <a:cs typeface="Calibri" pitchFamily="34" charset="-120"/>
                        </a:rPr>
                        <a:t>Leader</a:t>
                      </a:r>
                      <a:endParaRPr lang="en-US" sz="1200" dirty="0">
                        <a:latin typeface="Calibri" charset="0"/>
                        <a:ea typeface="Calibri" charset="0"/>
                        <a:cs typeface="Calibri" charset="0"/>
                      </a:endParaRPr>
                    </a:p>
                  </a:txBody>
                  <a:tcPr marL="76200" marR="76200" marT="38100" marB="3810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5" name="Text 2"/>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100" i="1" dirty="0">
                <a:solidFill>
                  <a:srgbClr val="5B6472"/>
                </a:solidFill>
              </a:rPr>
              <a:t>Replaces the Wave 2–9 plan. May 25 becomes the outer limit, not the target.</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11064240" cy="320040"/>
          </a:xfrm>
          <a:prstGeom prst="rect">
            <a:avLst/>
          </a:prstGeom>
          <a:noFill/>
          <a:ln/>
        </p:spPr>
        <p:txBody>
          <a:bodyPr wrap="square" lIns="0" tIns="0" rIns="0" bIns="0" rtlCol="0"/>
          <a:lstStyle/>
          <a:p>
            <a:pPr indent="0" marL="0">
              <a:buNone/>
            </a:pPr>
            <a:r>
              <a:rPr lang="en-US" sz="1200" b="1" spc="150" kern="0" dirty="0">
                <a:solidFill>
                  <a:srgbClr val="E8A33D"/>
                </a:solidFill>
                <a:latin typeface="Calibri" pitchFamily="34" charset="0"/>
                <a:ea typeface="Calibri" pitchFamily="34" charset="-122"/>
                <a:cs typeface="Calibri" pitchFamily="34" charset="-120"/>
              </a:rPr>
              <a:t>DECISIONS NEEDED</a:t>
            </a:r>
            <a:endParaRPr lang="en-US" sz="1200" dirty="0"/>
          </a:p>
        </p:txBody>
      </p:sp>
      <p:sp>
        <p:nvSpPr>
          <p:cNvPr id="3" name="Text 1"/>
          <p:cNvSpPr/>
          <p:nvPr>
            <p:ph idx="102" type="title" hasCustomPrompt="1"/>
          </p:nvPr>
        </p:nvSpPr>
        <p:spPr>
          <a:xfrm>
            <a:off x="548640" y="713232"/>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What we need to agree to go this way</a:t>
            </a:r>
            <a:endParaRPr lang="en-US" sz="3000" dirty="0"/>
          </a:p>
        </p:txBody>
      </p:sp>
      <p:sp>
        <p:nvSpPr>
          <p:cNvPr id="4" name="card"/>
          <p:cNvSpPr/>
          <p:nvPr/>
        </p:nvSpPr>
        <p:spPr>
          <a:xfrm>
            <a:off x="548640" y="1508760"/>
            <a:ext cx="5486400" cy="2103120"/>
          </a:xfrm>
          <a:prstGeom prst="roundRect">
            <a:avLst>
              <a:gd name="adj" fmla="val 3478"/>
            </a:avLst>
          </a:prstGeom>
          <a:solidFill>
            <a:srgbClr val="1E2761"/>
          </a:solidFill>
          <a:ln w="12700">
            <a:solidFill>
              <a:srgbClr val="1E2761"/>
            </a:solidFill>
            <a:prstDash val="solid"/>
          </a:ln>
        </p:spPr>
      </p:sp>
      <p:sp>
        <p:nvSpPr>
          <p:cNvPr id="5" name="Shape 3"/>
          <p:cNvSpPr/>
          <p:nvPr/>
        </p:nvSpPr>
        <p:spPr>
          <a:xfrm>
            <a:off x="777240" y="1737360"/>
            <a:ext cx="411480" cy="411480"/>
          </a:xfrm>
          <a:prstGeom prst="ellipse">
            <a:avLst/>
          </a:prstGeom>
          <a:solidFill>
            <a:srgbClr val="E8A33D"/>
          </a:solidFill>
          <a:ln w="12700">
            <a:solidFill>
              <a:srgbClr val="E8A33D"/>
            </a:solidFill>
            <a:prstDash val="solid"/>
          </a:ln>
        </p:spPr>
      </p:sp>
      <p:pic>
        <p:nvPicPr>
          <p:cNvPr id="6" name="Image 0" descr="preencoded.png">    </p:cNvPr>
          <p:cNvPicPr>
            <a:picLocks noChangeAspect="1"/>
          </p:cNvPicPr>
          <p:nvPr/>
        </p:nvPicPr>
        <p:blipFill>
          <a:blip r:embed="rId1"/>
          <a:stretch>
            <a:fillRect/>
          </a:stretch>
        </p:blipFill>
        <p:spPr>
          <a:xfrm>
            <a:off x="859536" y="1819656"/>
            <a:ext cx="246888" cy="246888"/>
          </a:xfrm>
          <a:prstGeom prst="rect">
            <a:avLst/>
          </a:prstGeom>
        </p:spPr>
      </p:pic>
      <p:sp>
        <p:nvSpPr>
          <p:cNvPr id="7" name="Text 4"/>
          <p:cNvSpPr txBox="1"/>
          <p:nvPr/>
        </p:nvSpPr>
        <p:spPr>
          <a:xfrm>
            <a:off x="1371600" y="1737360"/>
            <a:ext cx="448056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Adopt the platform-led plan</a:t>
            </a:r>
            <a:endParaRPr lang="en-US" sz="1500" dirty="0"/>
          </a:p>
        </p:txBody>
      </p:sp>
      <p:sp>
        <p:nvSpPr>
          <p:cNvPr id="8" name="Text 5"/>
          <p:cNvSpPr txBox="1"/>
          <p:nvPr/>
        </p:nvSpPr>
        <p:spPr>
          <a:xfrm>
            <a:off x="777240" y="2331720"/>
            <a:ext cx="5029200" cy="822960"/>
          </a:xfrm>
          <a:prstGeom prst="rect">
            <a:avLst/>
          </a:prstGeom>
          <a:noFill/>
          <a:ln/>
        </p:spPr>
        <p:txBody>
          <a:bodyPr wrap="square" lIns="0" tIns="0" rIns="0" bIns="0" rtlCol="0" anchor="t"/>
          <a:lstStyle/>
          <a:p>
            <a:pPr indent="0" marL="0">
              <a:buNone/>
            </a:pPr>
            <a:r>
              <a:rPr lang="en-US" sz="1200" dirty="0">
                <a:solidFill>
                  <a:srgbClr val="CADCFC"/>
                </a:solidFill>
              </a:rPr>
              <a:t>Replaces the services-led waves. Wolf &amp; Co. effort moves from setting up recons to the platform.</a:t>
            </a:r>
            <a:endParaRPr lang="en-US" sz="1200" dirty="0"/>
          </a:p>
        </p:txBody>
      </p:sp>
      <p:sp>
        <p:nvSpPr>
          <p:cNvPr id="9" name="Text 6"/>
          <p:cNvSpPr txBox="1"/>
          <p:nvPr/>
        </p:nvSpPr>
        <p:spPr>
          <a:xfrm>
            <a:off x="777240" y="3200400"/>
            <a:ext cx="5029200" cy="274320"/>
          </a:xfrm>
          <a:prstGeom prst="rect">
            <a:avLst/>
          </a:prstGeom>
          <a:noFill/>
          <a:ln/>
        </p:spPr>
        <p:txBody>
          <a:bodyPr wrap="square" lIns="0" tIns="0" rIns="0" bIns="0" rtlCol="0" anchor="ctr"/>
          <a:lstStyle/>
          <a:p>
            <a:pPr indent="0" marL="0">
              <a:buNone/>
            </a:pPr>
            <a:r>
              <a:rPr lang="en-US" sz="1100" b="1" dirty="0">
                <a:solidFill>
                  <a:srgbClr val="E8A33D"/>
                </a:solidFill>
              </a:rPr>
              <a:t>Owner: </a:t>
            </a:r>
            <a:pPr indent="0" marL="0">
              <a:buNone/>
            </a:pPr>
            <a:r>
              <a:rPr lang="en-US" sz="1100" dirty="0">
                <a:solidFill>
                  <a:srgbClr val="E8A33D"/>
                </a:solidFill>
              </a:rPr>
              <a:t>Wolf &amp; Co. leadership</a:t>
            </a:r>
            <a:endParaRPr lang="en-US" sz="1100" dirty="0"/>
          </a:p>
        </p:txBody>
      </p:sp>
      <p:sp>
        <p:nvSpPr>
          <p:cNvPr id="10" name="card"/>
          <p:cNvSpPr/>
          <p:nvPr/>
        </p:nvSpPr>
        <p:spPr>
          <a:xfrm>
            <a:off x="6126480" y="1508760"/>
            <a:ext cx="5486400" cy="2103120"/>
          </a:xfrm>
          <a:prstGeom prst="roundRect">
            <a:avLst>
              <a:gd name="adj" fmla="val 3478"/>
            </a:avLst>
          </a:prstGeom>
          <a:solidFill>
            <a:srgbClr val="F4F7FC"/>
          </a:solidFill>
          <a:ln w="12700">
            <a:solidFill>
              <a:srgbClr val="F4F7FC"/>
            </a:solidFill>
            <a:prstDash val="solid"/>
          </a:ln>
        </p:spPr>
      </p:sp>
      <p:sp>
        <p:nvSpPr>
          <p:cNvPr id="11" name="Shape 8"/>
          <p:cNvSpPr/>
          <p:nvPr/>
        </p:nvSpPr>
        <p:spPr>
          <a:xfrm>
            <a:off x="6355080" y="1737360"/>
            <a:ext cx="411480" cy="411480"/>
          </a:xfrm>
          <a:prstGeom prst="ellipse">
            <a:avLst/>
          </a:prstGeom>
          <a:solidFill>
            <a:srgbClr val="1E2761"/>
          </a:solidFill>
          <a:ln w="12700">
            <a:solidFill>
              <a:srgbClr val="1E2761"/>
            </a:solidFill>
            <a:prstDash val="solid"/>
          </a:ln>
        </p:spPr>
      </p:sp>
      <p:pic>
        <p:nvPicPr>
          <p:cNvPr id="12" name="Image 1" descr="preencoded.png">    </p:cNvPr>
          <p:cNvPicPr>
            <a:picLocks noChangeAspect="1"/>
          </p:cNvPicPr>
          <p:nvPr/>
        </p:nvPicPr>
        <p:blipFill>
          <a:blip r:embed="rId2"/>
          <a:stretch>
            <a:fillRect/>
          </a:stretch>
        </p:blipFill>
        <p:spPr>
          <a:xfrm>
            <a:off x="6437376" y="1819656"/>
            <a:ext cx="246888" cy="246888"/>
          </a:xfrm>
          <a:prstGeom prst="rect">
            <a:avLst/>
          </a:prstGeom>
        </p:spPr>
      </p:pic>
      <p:sp>
        <p:nvSpPr>
          <p:cNvPr id="13" name="Text 9"/>
          <p:cNvSpPr txBox="1"/>
          <p:nvPr/>
        </p:nvSpPr>
        <p:spPr>
          <a:xfrm>
            <a:off x="6949440" y="173736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Rework the commercial model</a:t>
            </a:r>
            <a:endParaRPr lang="en-US" sz="1500" dirty="0"/>
          </a:p>
        </p:txBody>
      </p:sp>
      <p:sp>
        <p:nvSpPr>
          <p:cNvPr id="14" name="Text 10"/>
          <p:cNvSpPr txBox="1"/>
          <p:nvPr/>
        </p:nvSpPr>
        <p:spPr>
          <a:xfrm>
            <a:off x="6355080" y="2331720"/>
            <a:ext cx="5029200" cy="822960"/>
          </a:xfrm>
          <a:prstGeom prst="rect">
            <a:avLst/>
          </a:prstGeom>
          <a:noFill/>
          <a:ln/>
        </p:spPr>
        <p:txBody>
          <a:bodyPr wrap="square" lIns="0" tIns="0" rIns="0" bIns="0" rtlCol="0" anchor="t"/>
          <a:lstStyle/>
          <a:p>
            <a:pPr indent="0" marL="0">
              <a:buNone/>
            </a:pPr>
            <a:r>
              <a:rPr lang="en-US" sz="1200" dirty="0">
                <a:solidFill>
                  <a:srgbClr val="5B6472"/>
                </a:solidFill>
              </a:rPr>
              <a:t>The roadmap was a services proposal. If pricing assumed our setup hours, it needs to change with the plan.</a:t>
            </a:r>
            <a:endParaRPr lang="en-US" sz="1200" dirty="0"/>
          </a:p>
        </p:txBody>
      </p:sp>
      <p:sp>
        <p:nvSpPr>
          <p:cNvPr id="15" name="Text 11"/>
          <p:cNvSpPr txBox="1"/>
          <p:nvPr/>
        </p:nvSpPr>
        <p:spPr>
          <a:xfrm>
            <a:off x="6355080" y="3200400"/>
            <a:ext cx="5029200" cy="274320"/>
          </a:xfrm>
          <a:prstGeom prst="rect">
            <a:avLst/>
          </a:prstGeom>
          <a:noFill/>
          <a:ln/>
        </p:spPr>
        <p:txBody>
          <a:bodyPr wrap="square" lIns="0" tIns="0" rIns="0" bIns="0" rtlCol="0" anchor="ctr"/>
          <a:lstStyle/>
          <a:p>
            <a:pPr indent="0" marL="0">
              <a:buNone/>
            </a:pPr>
            <a:r>
              <a:rPr lang="en-US" sz="1100" b="1" dirty="0">
                <a:solidFill>
                  <a:srgbClr val="1B1F3B"/>
                </a:solidFill>
              </a:rPr>
              <a:t>Owner: </a:t>
            </a:r>
            <a:pPr indent="0" marL="0">
              <a:buNone/>
            </a:pPr>
            <a:r>
              <a:rPr lang="en-US" sz="1100" dirty="0">
                <a:solidFill>
                  <a:srgbClr val="1B1F3B"/>
                </a:solidFill>
              </a:rPr>
              <a:t>Wolf &amp; Co. leadership</a:t>
            </a:r>
            <a:endParaRPr lang="en-US" sz="1100" dirty="0"/>
          </a:p>
        </p:txBody>
      </p:sp>
      <p:sp>
        <p:nvSpPr>
          <p:cNvPr id="16" name="card"/>
          <p:cNvSpPr/>
          <p:nvPr/>
        </p:nvSpPr>
        <p:spPr>
          <a:xfrm>
            <a:off x="548640" y="3749040"/>
            <a:ext cx="5486400" cy="2103120"/>
          </a:xfrm>
          <a:prstGeom prst="roundRect">
            <a:avLst>
              <a:gd name="adj" fmla="val 3478"/>
            </a:avLst>
          </a:prstGeom>
          <a:solidFill>
            <a:srgbClr val="F4F7FC"/>
          </a:solidFill>
          <a:ln w="12700">
            <a:solidFill>
              <a:srgbClr val="F4F7FC"/>
            </a:solidFill>
            <a:prstDash val="solid"/>
          </a:ln>
        </p:spPr>
      </p:sp>
      <p:sp>
        <p:nvSpPr>
          <p:cNvPr id="17" name="Shape 13"/>
          <p:cNvSpPr/>
          <p:nvPr/>
        </p:nvSpPr>
        <p:spPr>
          <a:xfrm>
            <a:off x="777240" y="3977640"/>
            <a:ext cx="411480" cy="411480"/>
          </a:xfrm>
          <a:prstGeom prst="ellipse">
            <a:avLst/>
          </a:prstGeom>
          <a:solidFill>
            <a:srgbClr val="1E2761"/>
          </a:solidFill>
          <a:ln w="12700">
            <a:solidFill>
              <a:srgbClr val="1E2761"/>
            </a:solidFill>
            <a:prstDash val="solid"/>
          </a:ln>
        </p:spPr>
      </p:sp>
      <p:pic>
        <p:nvPicPr>
          <p:cNvPr id="18" name="Image 2" descr="preencoded.png">    </p:cNvPr>
          <p:cNvPicPr>
            <a:picLocks noChangeAspect="1"/>
          </p:cNvPicPr>
          <p:nvPr/>
        </p:nvPicPr>
        <p:blipFill>
          <a:blip r:embed="rId3"/>
          <a:stretch>
            <a:fillRect/>
          </a:stretch>
        </p:blipFill>
        <p:spPr>
          <a:xfrm>
            <a:off x="859536" y="4059936"/>
            <a:ext cx="246888" cy="246888"/>
          </a:xfrm>
          <a:prstGeom prst="rect">
            <a:avLst/>
          </a:prstGeom>
        </p:spPr>
      </p:pic>
      <p:sp>
        <p:nvSpPr>
          <p:cNvPr id="19" name="Text 14"/>
          <p:cNvSpPr txBox="1"/>
          <p:nvPr/>
        </p:nvSpPr>
        <p:spPr>
          <a:xfrm>
            <a:off x="1371600" y="397764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Leader owner time from January</a:t>
            </a:r>
            <a:endParaRPr lang="en-US" sz="1500" dirty="0"/>
          </a:p>
        </p:txBody>
      </p:sp>
      <p:sp>
        <p:nvSpPr>
          <p:cNvPr id="20" name="Text 15"/>
          <p:cNvSpPr txBox="1"/>
          <p:nvPr/>
        </p:nvSpPr>
        <p:spPr>
          <a:xfrm>
            <a:off x="777240" y="4572000"/>
            <a:ext cx="5029200" cy="822960"/>
          </a:xfrm>
          <a:prstGeom prst="rect">
            <a:avLst/>
          </a:prstGeom>
          <a:noFill/>
          <a:ln/>
        </p:spPr>
        <p:txBody>
          <a:bodyPr wrap="square" lIns="0" tIns="0" rIns="0" bIns="0" rtlCol="0" anchor="t"/>
          <a:lstStyle/>
          <a:p>
            <a:pPr indent="0" marL="0">
              <a:buNone/>
            </a:pPr>
            <a:r>
              <a:rPr lang="en-US" sz="1200" dirty="0">
                <a:solidFill>
                  <a:srgbClr val="5B6472"/>
                </a:solidFill>
              </a:rPr>
              <a:t>Six owners at ~15 hrs/week. Most of the timeline depends on it.</a:t>
            </a:r>
            <a:endParaRPr lang="en-US" sz="1200" dirty="0"/>
          </a:p>
        </p:txBody>
      </p:sp>
      <p:sp>
        <p:nvSpPr>
          <p:cNvPr id="21" name="Text 16"/>
          <p:cNvSpPr txBox="1"/>
          <p:nvPr/>
        </p:nvSpPr>
        <p:spPr>
          <a:xfrm>
            <a:off x="777240" y="5440680"/>
            <a:ext cx="5029200" cy="274320"/>
          </a:xfrm>
          <a:prstGeom prst="rect">
            <a:avLst/>
          </a:prstGeom>
          <a:noFill/>
          <a:ln/>
        </p:spPr>
        <p:txBody>
          <a:bodyPr wrap="square" lIns="0" tIns="0" rIns="0" bIns="0" rtlCol="0" anchor="ctr"/>
          <a:lstStyle/>
          <a:p>
            <a:pPr indent="0" marL="0">
              <a:buNone/>
            </a:pPr>
            <a:r>
              <a:rPr lang="en-US" sz="1100" b="1" dirty="0">
                <a:solidFill>
                  <a:srgbClr val="1B1F3B"/>
                </a:solidFill>
              </a:rPr>
              <a:t>Owner: </a:t>
            </a:r>
            <a:pPr indent="0" marL="0">
              <a:buNone/>
            </a:pPr>
            <a:r>
              <a:rPr lang="en-US" sz="1100" dirty="0">
                <a:solidFill>
                  <a:srgbClr val="1B1F3B"/>
                </a:solidFill>
              </a:rPr>
              <a:t>Leader sponsor</a:t>
            </a:r>
            <a:endParaRPr lang="en-US" sz="1100" dirty="0"/>
          </a:p>
        </p:txBody>
      </p:sp>
      <p:sp>
        <p:nvSpPr>
          <p:cNvPr id="22" name="card"/>
          <p:cNvSpPr/>
          <p:nvPr/>
        </p:nvSpPr>
        <p:spPr>
          <a:xfrm>
            <a:off x="6126480" y="3749040"/>
            <a:ext cx="5486400" cy="2103120"/>
          </a:xfrm>
          <a:prstGeom prst="roundRect">
            <a:avLst>
              <a:gd name="adj" fmla="val 3478"/>
            </a:avLst>
          </a:prstGeom>
          <a:solidFill>
            <a:srgbClr val="F4F7FC"/>
          </a:solidFill>
          <a:ln w="12700">
            <a:solidFill>
              <a:srgbClr val="F4F7FC"/>
            </a:solidFill>
            <a:prstDash val="solid"/>
          </a:ln>
        </p:spPr>
      </p:sp>
      <p:sp>
        <p:nvSpPr>
          <p:cNvPr id="23" name="Shape 18"/>
          <p:cNvSpPr/>
          <p:nvPr/>
        </p:nvSpPr>
        <p:spPr>
          <a:xfrm>
            <a:off x="6355080" y="3977640"/>
            <a:ext cx="411480" cy="411480"/>
          </a:xfrm>
          <a:prstGeom prst="ellipse">
            <a:avLst/>
          </a:prstGeom>
          <a:solidFill>
            <a:srgbClr val="1E2761"/>
          </a:solidFill>
          <a:ln w="12700">
            <a:solidFill>
              <a:srgbClr val="1E2761"/>
            </a:solidFill>
            <a:prstDash val="solid"/>
          </a:ln>
        </p:spPr>
      </p:sp>
      <p:pic>
        <p:nvPicPr>
          <p:cNvPr id="24" name="Image 3" descr="preencoded.png">    </p:cNvPr>
          <p:cNvPicPr>
            <a:picLocks noChangeAspect="1"/>
          </p:cNvPicPr>
          <p:nvPr/>
        </p:nvPicPr>
        <p:blipFill>
          <a:blip r:embed="rId4"/>
          <a:stretch>
            <a:fillRect/>
          </a:stretch>
        </p:blipFill>
        <p:spPr>
          <a:xfrm>
            <a:off x="6437376" y="4059936"/>
            <a:ext cx="246888" cy="246888"/>
          </a:xfrm>
          <a:prstGeom prst="rect">
            <a:avLst/>
          </a:prstGeom>
        </p:spPr>
      </p:pic>
      <p:sp>
        <p:nvSpPr>
          <p:cNvPr id="25" name="Text 19"/>
          <p:cNvSpPr txBox="1"/>
          <p:nvPr/>
        </p:nvSpPr>
        <p:spPr>
          <a:xfrm>
            <a:off x="6949440" y="3977640"/>
            <a:ext cx="4480560" cy="41148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Platform build priorities for Nov – Dec</a:t>
            </a:r>
            <a:endParaRPr lang="en-US" sz="1500" dirty="0"/>
          </a:p>
        </p:txBody>
      </p:sp>
      <p:sp>
        <p:nvSpPr>
          <p:cNvPr id="26" name="Text 20"/>
          <p:cNvSpPr txBox="1"/>
          <p:nvPr/>
        </p:nvSpPr>
        <p:spPr>
          <a:xfrm>
            <a:off x="6355080" y="4572000"/>
            <a:ext cx="5029200" cy="822960"/>
          </a:xfrm>
          <a:prstGeom prst="rect">
            <a:avLst/>
          </a:prstGeom>
          <a:noFill/>
          <a:ln/>
        </p:spPr>
        <p:txBody>
          <a:bodyPr wrap="square" lIns="0" tIns="0" rIns="0" bIns="0" rtlCol="0" anchor="t"/>
          <a:lstStyle/>
          <a:p>
            <a:pPr indent="0" marL="0">
              <a:buNone/>
            </a:pPr>
            <a:r>
              <a:rPr lang="en-US" sz="1200" dirty="0">
                <a:solidFill>
                  <a:srgbClr val="5B6472"/>
                </a:solidFill>
              </a:rPr>
              <a:t>Feedback action, in-app gate, maker-checker, mapping suggestions, clone-from-similar, upload checklist.</a:t>
            </a:r>
            <a:endParaRPr lang="en-US" sz="1200" dirty="0"/>
          </a:p>
        </p:txBody>
      </p:sp>
      <p:sp>
        <p:nvSpPr>
          <p:cNvPr id="27" name="Text 21"/>
          <p:cNvSpPr txBox="1"/>
          <p:nvPr/>
        </p:nvSpPr>
        <p:spPr>
          <a:xfrm>
            <a:off x="6355080" y="5440680"/>
            <a:ext cx="5029200" cy="274320"/>
          </a:xfrm>
          <a:prstGeom prst="rect">
            <a:avLst/>
          </a:prstGeom>
          <a:noFill/>
          <a:ln/>
        </p:spPr>
        <p:txBody>
          <a:bodyPr wrap="square" lIns="0" tIns="0" rIns="0" bIns="0" rtlCol="0" anchor="ctr"/>
          <a:lstStyle/>
          <a:p>
            <a:pPr indent="0" marL="0">
              <a:buNone/>
            </a:pPr>
            <a:r>
              <a:rPr lang="en-US" sz="1100" b="1" dirty="0">
                <a:solidFill>
                  <a:srgbClr val="1B1F3B"/>
                </a:solidFill>
              </a:rPr>
              <a:t>Owner: </a:t>
            </a:r>
            <a:pPr indent="0" marL="0">
              <a:buNone/>
            </a:pPr>
            <a:r>
              <a:rPr lang="en-US" sz="1100" dirty="0">
                <a:solidFill>
                  <a:srgbClr val="1B1F3B"/>
                </a:solidFill>
              </a:rPr>
              <a:t>Product</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B8"/>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Wolf Roadmap">
  <a:themeElements>
    <a:clrScheme name="Wolf Roadmap">
      <a:dk1>
        <a:srgbClr val="000000"/>
      </a:dk1>
      <a:lt1>
        <a:srgbClr val="FFFFFF"/>
      </a:lt1>
      <a:dk2>
        <a:srgbClr val="1E2761"/>
      </a:dk2>
      <a:lt2>
        <a:srgbClr val="F4F7FC"/>
      </a:lt2>
      <a:accent1>
        <a:srgbClr val="1E2761"/>
      </a:accent1>
      <a:accent2>
        <a:srgbClr val="E8A33D"/>
      </a:accent2>
      <a:accent3>
        <a:srgbClr val="2E7D5B"/>
      </a:accent3>
      <a:accent4>
        <a:srgbClr val="B3412E"/>
      </a:accent4>
      <a:accent5>
        <a:srgbClr val="C27C12"/>
      </a:accent5>
      <a:accent6>
        <a:srgbClr val="5B6472"/>
      </a:accent6>
      <a:hlink>
        <a:srgbClr val="1E2761"/>
      </a:hlink>
      <a:folHlink>
        <a:srgbClr val="5B6472"/>
      </a:folHlink>
    </a:clrScheme>
    <a:fontScheme name="Wolf Roadma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Reconciliation Rollout: Platform-Led Strategy</dc:title>
  <dc:subject>PptxGenJS Presentation</dc:subject>
  <dc:creator>Wolf &amp; Co.</dc:creator>
  <cp:lastModifiedBy>Wolf &amp; Co.</cp:lastModifiedBy>
  <cp:revision>1</cp:revision>
  <dcterms:created xsi:type="dcterms:W3CDTF">2026-10-19T21:29:45Z</dcterms:created>
  <dcterms:modified xsi:type="dcterms:W3CDTF">2026-10-19T21:29:45Z</dcterms:modified>
</cp:coreProperties>
</file>